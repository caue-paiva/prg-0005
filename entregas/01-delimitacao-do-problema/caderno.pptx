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jFyzyX8LPltYC19OHaWbzEL4rR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>
      <p:cViewPr varScale="1">
        <p:scale>
          <a:sx n="111" d="100"/>
          <a:sy n="111" d="100"/>
        </p:scale>
        <p:origin x="4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3" name="Google Shape;3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9" name="Google Shape;69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9" name="Google Shape;119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2" name="Google Shape;142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5" name="Google Shape;165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5" name="Google Shape;205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49" name="Google Shape;24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80" name="Google Shape;280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15" name="Google Shape;315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2F80ED"/>
          </a:solidFill>
          <a:ln w="9525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1602" y="-428625"/>
            <a:ext cx="4658297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742950" y="609600"/>
            <a:ext cx="2000250" cy="30480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 w="9525" cap="flat" cmpd="sng">
            <a:solidFill>
              <a:srgbClr val="EAF2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38200" y="657225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MÓDULO 2 · ATIVIDADES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42950" y="1314450"/>
            <a:ext cx="723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lang="pt-BR" sz="39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Caderno de Atividades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42950" y="2076450"/>
            <a:ext cx="723900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5"/>
              <a:buFont typeface="Arial"/>
              <a:buNone/>
            </a:pPr>
            <a:r>
              <a:rPr lang="pt-BR" sz="32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Design Thinking: do problema ao protótipo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81050" y="3390900"/>
            <a:ext cx="67627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Cinco entregas cumulativas para compreender o público, definir o desafio, idear, decidir e prototipar — sem etapa de validação.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81050" y="4762500"/>
            <a:ext cx="66675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81050" y="5029200"/>
            <a:ext cx="5905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81050" y="5467350"/>
            <a:ext cx="4286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Docente responsável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81050" y="5705475"/>
            <a:ext cx="42862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895350" y="5791200"/>
            <a:ext cx="4057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i="1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Profa. Dra Fernanda G. Basso e Prof. Dr. Mateus C. Gerolamo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88316" y="6143625"/>
            <a:ext cx="930567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21975" y="6200775"/>
            <a:ext cx="5588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ANTES DE COMEÇAR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Como usar este caderno e preparar cada PDF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Os campos em azul-claro são editáveis. Substituam as orientações pelos registros da equipe e preservem a estrutura de cada entrega.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ORIENTAÇÕES GERAIS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85800" y="2000250"/>
            <a:ext cx="3333750" cy="1714500"/>
          </a:xfrm>
          <a:prstGeom prst="roundRect">
            <a:avLst>
              <a:gd name="adj" fmla="val 6667"/>
            </a:avLst>
          </a:prstGeom>
          <a:solidFill>
            <a:srgbClr val="EAF2FD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85800" y="2000250"/>
            <a:ext cx="66675" cy="171450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 w="9525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52500" y="2209800"/>
            <a:ext cx="28384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1 · Trabalhem no PowerPoint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52500" y="2628900"/>
            <a:ext cx="283845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Editem os campos, dupliquem os templates quando indicado e insiram as evidências solicitadas.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429125" y="2000250"/>
            <a:ext cx="3333750" cy="1714500"/>
          </a:xfrm>
          <a:prstGeom prst="roundRect">
            <a:avLst>
              <a:gd name="adj" fmla="val 6667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429125" y="2000250"/>
            <a:ext cx="66675" cy="1714500"/>
          </a:xfrm>
          <a:prstGeom prst="roundRect">
            <a:avLst>
              <a:gd name="adj" fmla="val 50000"/>
            </a:avLst>
          </a:prstGeom>
          <a:solidFill>
            <a:srgbClr val="138A83"/>
          </a:solidFill>
          <a:ln w="9525" cap="flat" cmpd="sng">
            <a:solidFill>
              <a:srgbClr val="138A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695825" y="2209800"/>
            <a:ext cx="28384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2 · Revisem em equipe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695825" y="2628900"/>
            <a:ext cx="283845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Confiram coerência, clareza, privacidade, fontes e participação. O processo registrado é parte do produto avaliado.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172450" y="2000250"/>
            <a:ext cx="3333750" cy="1714500"/>
          </a:xfrm>
          <a:prstGeom prst="roundRect">
            <a:avLst>
              <a:gd name="adj" fmla="val 6667"/>
            </a:avLst>
          </a:prstGeom>
          <a:solidFill>
            <a:srgbClr val="FFF4DE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172450" y="2000250"/>
            <a:ext cx="66675" cy="17145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439150" y="2209800"/>
            <a:ext cx="28384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3 · Exportem a entrega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439150" y="2628900"/>
            <a:ext cx="283845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Para cada prazo, exportem somente os slides da entrega correspondente em um único PDF e anexem no e-Disciplinas.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81050" y="417195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47725" y="421005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257300" y="4181475"/>
            <a:ext cx="100012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Equipe com até 7 estudantes; participação descrita ao final de cada entrega.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81050" y="462915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847725" y="466725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257300" y="4638675"/>
            <a:ext cx="100012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Nenhum dado pessoal identificável do público investigado.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781050" y="508635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847725" y="512445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257300" y="5095875"/>
            <a:ext cx="100012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Fontes externas indicadas quando houver dados, conceitos ou imagens.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81050" y="554355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847725" y="558165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1257300" y="5553075"/>
            <a:ext cx="100012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Uma das duas declarações sobre uso de IA marcada em cada entrega.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PERCURSO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As cinco entregas constroem uma decisão de projeto rastreável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Cada entrega retoma a anterior. Quando os achados mudarem a compreensão do problema, a equipe deverá registrar a mudança e justificar a decisão.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VISÃO GERAL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85800" y="1962150"/>
            <a:ext cx="1303663" cy="4953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81050" y="2038350"/>
            <a:ext cx="111316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Entrega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989463" y="1962150"/>
            <a:ext cx="2737692" cy="4953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2084713" y="2038350"/>
            <a:ext cx="254719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Movimento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727154" y="1962150"/>
            <a:ext cx="6779046" cy="4953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822404" y="2038350"/>
            <a:ext cx="658854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Produto central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85800" y="2457450"/>
            <a:ext cx="1303663" cy="6286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81050" y="2533650"/>
            <a:ext cx="11131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989463" y="2457450"/>
            <a:ext cx="2737692" cy="6286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2084713" y="2533650"/>
            <a:ext cx="254719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Enquadrar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727154" y="2457450"/>
            <a:ext cx="6779046" cy="6286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822404" y="2533650"/>
            <a:ext cx="6588546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Hipótese de problema, público inicial, declaração e pergunta orientadora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85800" y="3086100"/>
            <a:ext cx="1303663" cy="6286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781050" y="3162300"/>
            <a:ext cx="11131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989463" y="3086100"/>
            <a:ext cx="2737692" cy="6286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2084713" y="3162300"/>
            <a:ext cx="254719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Empatizar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727154" y="3086100"/>
            <a:ext cx="6779046" cy="6286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822404" y="3162300"/>
            <a:ext cx="6588546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Entrevistas, mapas de empatia e síntese dos padrões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85800" y="3714750"/>
            <a:ext cx="1303663" cy="6286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781050" y="3790950"/>
            <a:ext cx="11131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1989463" y="3714750"/>
            <a:ext cx="2737692" cy="6286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2084713" y="3790950"/>
            <a:ext cx="254719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Definir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727154" y="3714750"/>
            <a:ext cx="6779046" cy="6286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822404" y="3790950"/>
            <a:ext cx="6588546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Persona baseada em evidências e desafio refinado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85800" y="4343400"/>
            <a:ext cx="1303663" cy="6286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781050" y="4419600"/>
            <a:ext cx="11131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989463" y="4343400"/>
            <a:ext cx="2737692" cy="6286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2084713" y="4419600"/>
            <a:ext cx="254719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Idear e decidir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727154" y="4343400"/>
            <a:ext cx="6779046" cy="6286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822404" y="4419600"/>
            <a:ext cx="6588546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Oito ideias, comparação das finalistas e proposta de valor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85800" y="4972050"/>
            <a:ext cx="1303663" cy="7048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781050" y="5048250"/>
            <a:ext cx="111316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1989463" y="4972050"/>
            <a:ext cx="2737692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2084713" y="5048250"/>
            <a:ext cx="254719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Prototipar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727154" y="4972050"/>
            <a:ext cx="6779046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822404" y="5048250"/>
            <a:ext cx="658854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Duas versões, ferramentas digitais, diferenças e escolha principal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85800" y="5886450"/>
            <a:ext cx="10820400" cy="400050"/>
          </a:xfrm>
          <a:prstGeom prst="roundRect">
            <a:avLst>
              <a:gd name="adj" fmla="val 19048"/>
            </a:avLst>
          </a:prstGeom>
          <a:solidFill>
            <a:srgbClr val="FFF4DE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876300" y="5981700"/>
            <a:ext cx="10439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Limite do caderno: o percurso encerra na prototipação; testes com usuários e validação não integram estas entregas.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80ED"/>
          </a:solidFill>
          <a:ln w="9525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285" y="0"/>
            <a:ext cx="358330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742950" y="571500"/>
            <a:ext cx="1238250" cy="30480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 w="9525" cap="flat" cmpd="sng">
            <a:solidFill>
              <a:srgbClr val="EAF2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838200" y="619125"/>
            <a:ext cx="1047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742950" y="1066800"/>
            <a:ext cx="6191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DELIMITAÇÃO INICIAL DO PROBLEMA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742950" y="1504950"/>
            <a:ext cx="7143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Enquadrar o desafio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81050" y="3048000"/>
            <a:ext cx="65722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A equipe formulará uma hipótese de problema suficientemente clara para orientar a escuta do público, sem antecipar a solução.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81050" y="4333875"/>
            <a:ext cx="7334250" cy="1104900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028700" y="4552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PRODUTO DESTA ENTREGA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028700" y="4876800"/>
            <a:ext cx="67627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1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Quadros de problema e público inicial + declaração do problema + pergunta “Como poderíamos...?”.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8572500" y="40957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Prazo no e-Disciplinas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8572500" y="4333875"/>
            <a:ext cx="28575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8686800" y="4419600"/>
            <a:ext cx="26289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i="1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28/09/2026 até às 23:59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8572500" y="5191125"/>
            <a:ext cx="2857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Formato: um único arquivo PDF por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742950" y="64008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1049000" y="6400800"/>
            <a:ext cx="476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88316" y="6143625"/>
            <a:ext cx="930567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21975" y="6200775"/>
            <a:ext cx="5588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1 · ATIVIDADE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Enquadrem o problema sem antecipar a solução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A formulação inicial será confrontada com os achados de empatia nas entregas seguintes; por isso, registrem também as incertezas.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85800" y="2047875"/>
            <a:ext cx="5143500" cy="2524125"/>
          </a:xfrm>
          <a:prstGeom prst="roundRect">
            <a:avLst>
              <a:gd name="adj" fmla="val 4528"/>
            </a:avLst>
          </a:prstGeom>
          <a:solidFill>
            <a:srgbClr val="EAF2FD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685800" y="2047875"/>
            <a:ext cx="66675" cy="2524125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 w="9525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952500" y="2257425"/>
            <a:ext cx="4648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A descrição deve mostrar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952500" y="2676525"/>
            <a:ext cx="4648200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contexto do problema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público afetado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dificuldade ou necessidade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possíveis consequências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motivo pelo qual merece atenção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6362700" y="2047875"/>
            <a:ext cx="5143500" cy="2524125"/>
          </a:xfrm>
          <a:prstGeom prst="roundRect">
            <a:avLst>
              <a:gd name="adj" fmla="val 4528"/>
            </a:avLst>
          </a:prstGeom>
          <a:solidFill>
            <a:srgbClr val="FFF4DE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362700" y="2047875"/>
            <a:ext cx="66675" cy="2524125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6629400" y="2257425"/>
            <a:ext cx="4648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Evitem nesta etapa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6629400" y="2676525"/>
            <a:ext cx="4648200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apresentar a solução antecipadamente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definir um público muito amplo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confundir causa e consequência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usar afirmações sem base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expor informações pessoais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85800" y="5029200"/>
            <a:ext cx="10820400" cy="876300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914400" y="52197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Pergunta de controle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048000" y="51625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Outra pessoa compreenderia claramente o problema sem que a equipe precisasse explicar a solução?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1 · REGISTRO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Delimitem o contexto e a relevância do problema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Se houver evidências ou observações disponíveis, registrem a fonte de forma verificável; não inventem dados para preencher lacunas.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85800" y="1924050"/>
            <a:ext cx="3051908" cy="40005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781050" y="2000250"/>
            <a:ext cx="286140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Elemento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737708" y="1924050"/>
            <a:ext cx="7768492" cy="40005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832958" y="2000250"/>
            <a:ext cx="757799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Registro da equipe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85800" y="2324100"/>
            <a:ext cx="3051908" cy="6096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781050" y="2400300"/>
            <a:ext cx="2861408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Contexto do problema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737708" y="2324100"/>
            <a:ext cx="7768492" cy="6096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3832958" y="2400300"/>
            <a:ext cx="757799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Onde, quando ou em que situação o problema ocorre?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85800" y="2933700"/>
            <a:ext cx="3051908" cy="6096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781050" y="3009900"/>
            <a:ext cx="2861408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Quem é afetado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3737708" y="2933700"/>
            <a:ext cx="7768492" cy="6096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3832958" y="3009900"/>
            <a:ext cx="757799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o grupo de pessoas afetado, sem identificá-las.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685800" y="3543300"/>
            <a:ext cx="3051908" cy="6096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781050" y="3619500"/>
            <a:ext cx="2861408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Dificuldade ou necessidade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737708" y="3543300"/>
            <a:ext cx="7768492" cy="6096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3832958" y="3619500"/>
            <a:ext cx="757799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Qual dificuldade central foi identificada?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685800" y="4152900"/>
            <a:ext cx="3051908" cy="6096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781050" y="4229100"/>
            <a:ext cx="2861408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Possíveis causas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737708" y="4152900"/>
            <a:ext cx="7768492" cy="6096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3832958" y="4229100"/>
            <a:ext cx="757799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Quais fatores podem estar relacionados? Sinalize o que ainda é hipótese.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685800" y="4762500"/>
            <a:ext cx="3051908" cy="6096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781050" y="4838700"/>
            <a:ext cx="2861408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Consequências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3737708" y="4762500"/>
            <a:ext cx="7768492" cy="6096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3832958" y="4838700"/>
            <a:ext cx="757799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O que pode ocorrer se o problema permanecer?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685800" y="5372100"/>
            <a:ext cx="3051908" cy="6858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781050" y="5448300"/>
            <a:ext cx="286140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Por que merece atenção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737708" y="5372100"/>
            <a:ext cx="7768492" cy="6858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3832958" y="5448300"/>
            <a:ext cx="757799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Explique a relevância para o público e para o contexto.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1 · REGISTRO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Construam um perfil inicial do público da proposta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Este perfil é provisório e deverá ser refinado após as entrevistas de empatia.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685800" y="1924050"/>
            <a:ext cx="2257425" cy="40005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781050" y="2000250"/>
            <a:ext cx="20669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Aspecto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2943225" y="1924050"/>
            <a:ext cx="5267325" cy="40005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3038475" y="2000250"/>
            <a:ext cx="5076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Registro inicial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85800" y="2324100"/>
            <a:ext cx="2257425" cy="6858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781050" y="2400300"/>
            <a:ext cx="20669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Potenciais usuários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2943225" y="2324100"/>
            <a:ext cx="5267325" cy="6858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3038475" y="2400300"/>
            <a:ext cx="50768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Quem são? Quais características gerais são relevantes?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685800" y="3009900"/>
            <a:ext cx="2257425" cy="6858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781050" y="3086100"/>
            <a:ext cx="20669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Situação vivenciada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2943225" y="3009900"/>
            <a:ext cx="5267325" cy="6858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3038475" y="3086100"/>
            <a:ext cx="50768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Em que momento ou contexto enfrentam o problema?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685800" y="3695700"/>
            <a:ext cx="2257425" cy="6858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781050" y="3771900"/>
            <a:ext cx="20669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Necessidades percebidas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2943225" y="3695700"/>
            <a:ext cx="5267325" cy="6858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3038475" y="3771900"/>
            <a:ext cx="50768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O que parecem precisar realizar, compreender, acessar ou superar?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85800" y="4381500"/>
            <a:ext cx="2257425" cy="6858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781050" y="4457700"/>
            <a:ext cx="20669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Alternativas atuais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2943225" y="4381500"/>
            <a:ext cx="5267325" cy="6858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3038475" y="4457700"/>
            <a:ext cx="50768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O que utilizam hoje para lidar com a dificuldade?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85800" y="5067300"/>
            <a:ext cx="2257425" cy="8572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781050" y="5143500"/>
            <a:ext cx="2066925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Incertezas a investigar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2943225" y="5067300"/>
            <a:ext cx="5267325" cy="8572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038475" y="5143500"/>
            <a:ext cx="5076825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O que a equipe ainda não sabe e precisa compreender nas entrevistas?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8572500" y="2095500"/>
            <a:ext cx="2933700" cy="2190750"/>
          </a:xfrm>
          <a:prstGeom prst="roundRect">
            <a:avLst>
              <a:gd name="adj" fmla="val 5217"/>
            </a:avLst>
          </a:prstGeom>
          <a:solidFill>
            <a:srgbClr val="FFF4DE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8572500" y="2095500"/>
            <a:ext cx="66675" cy="21907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8839200" y="2305050"/>
            <a:ext cx="2438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Proteção da privacidade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8839200" y="2724150"/>
            <a:ext cx="24384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incluam nomes, contatos, imagens, diagnósticos, condições individuais ou qualquer informação que permita identificar pessoas. Usem características gerais e relevantes.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8572500" y="4591050"/>
            <a:ext cx="2933700" cy="1333500"/>
          </a:xfrm>
          <a:prstGeom prst="roundRect">
            <a:avLst>
              <a:gd name="adj" fmla="val 8571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8572500" y="4591050"/>
            <a:ext cx="66675" cy="1333500"/>
          </a:xfrm>
          <a:prstGeom prst="roundRect">
            <a:avLst>
              <a:gd name="adj" fmla="val 50000"/>
            </a:avLst>
          </a:prstGeom>
          <a:solidFill>
            <a:srgbClr val="138A83"/>
          </a:solidFill>
          <a:ln w="9525" cap="flat" cmpd="sng">
            <a:solidFill>
              <a:srgbClr val="138A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8839200" y="4686300"/>
            <a:ext cx="2438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Boa delimitação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8839200" y="5048250"/>
            <a:ext cx="24384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Prefiram “estudantes ingressantes no primeiro semestre” a descrições amplas como “estudantes”.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1 · SÍNTESE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Formulem a declaração do problema e a pergunta orientadora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As duas formulações devem manter o foco no público e no resultado desejado, sem indicar uma tecnologia ou solução específica.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685800" y="1885950"/>
            <a:ext cx="10820400" cy="723900"/>
          </a:xfrm>
          <a:prstGeom prst="roundRect">
            <a:avLst>
              <a:gd name="adj" fmla="val 15789"/>
            </a:avLst>
          </a:prstGeom>
          <a:solidFill>
            <a:srgbClr val="EAF2FD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952500" y="2095500"/>
            <a:ext cx="102870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[Público] precisa de uma forma de [necessidade] porque [dificuldade, motivo ou insight identificado].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685800" y="2876550"/>
            <a:ext cx="3333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Público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685800" y="3114675"/>
            <a:ext cx="3333750" cy="571500"/>
          </a:xfrm>
          <a:prstGeom prst="roundRect">
            <a:avLst>
              <a:gd name="adj" fmla="val 1333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800100" y="3200400"/>
            <a:ext cx="31051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Quem precisa?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4429125" y="2876550"/>
            <a:ext cx="3333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Necessidade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4429125" y="3114675"/>
            <a:ext cx="3333750" cy="571500"/>
          </a:xfrm>
          <a:prstGeom prst="roundRect">
            <a:avLst>
              <a:gd name="adj" fmla="val 1333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4543425" y="3200400"/>
            <a:ext cx="31051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Do que precisa?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8172450" y="2876550"/>
            <a:ext cx="3333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Motivo ou insight inicial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8172450" y="3114675"/>
            <a:ext cx="3333750" cy="571500"/>
          </a:xfrm>
          <a:prstGeom prst="roundRect">
            <a:avLst>
              <a:gd name="adj" fmla="val 1333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8286750" y="3200400"/>
            <a:ext cx="31051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Por que essa necessidade existe?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685800" y="3905250"/>
            <a:ext cx="10820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Declaração inicial da equipe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685800" y="4143375"/>
            <a:ext cx="10820400" cy="552450"/>
          </a:xfrm>
          <a:prstGeom prst="roundRect">
            <a:avLst>
              <a:gd name="adj" fmla="val 1379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800100" y="4229100"/>
            <a:ext cx="10591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Escreva a declaração completa do problema.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685800" y="5000625"/>
            <a:ext cx="10820400" cy="533400"/>
          </a:xfrm>
          <a:prstGeom prst="roundRect">
            <a:avLst>
              <a:gd name="adj" fmla="val 17857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952500" y="5162550"/>
            <a:ext cx="10287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Como poderíamos ajudar [público] a [resultado desejado] diante de [dificuldade ou contexto]?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685800" y="5638800"/>
            <a:ext cx="10820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Pergunta orientadora inicial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685800" y="5876925"/>
            <a:ext cx="10820400" cy="495300"/>
          </a:xfrm>
          <a:prstGeom prst="roundRect">
            <a:avLst>
              <a:gd name="adj" fmla="val 1538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800100" y="5962650"/>
            <a:ext cx="1059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Como poderíamos ajudar... 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1 · REVISÃO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Confiram a coerência antes de gerar o primeiro PDF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O objetivo é produzir um ponto de partida investigável, não uma definição definitiva do problema.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685800" y="201930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752475" y="20574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1162050" y="2028825"/>
            <a:ext cx="5619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problema está delimitado e não antecipa a solução.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685800" y="260985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752475" y="264795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1162050" y="2619375"/>
            <a:ext cx="5619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público inicial é específico e não contém informações identificáveis.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685800" y="320040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752475" y="32385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1162050" y="3209925"/>
            <a:ext cx="5619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As incertezas que precisam ser investigadas estão registradas.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685800" y="379095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752475" y="382905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1162050" y="3800475"/>
            <a:ext cx="5619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declaração conecta público, necessidade e motivo.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685800" y="438150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752475" y="44196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1162050" y="4391025"/>
            <a:ext cx="5619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pergunta “Como poderíamos...?” admite diferentes soluções.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7429500" y="2095500"/>
            <a:ext cx="4076700" cy="2333625"/>
          </a:xfrm>
          <a:prstGeom prst="roundRect">
            <a:avLst>
              <a:gd name="adj" fmla="val 4898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7429500" y="2095500"/>
            <a:ext cx="66675" cy="2333625"/>
          </a:xfrm>
          <a:prstGeom prst="roundRect">
            <a:avLst>
              <a:gd name="adj" fmla="val 50000"/>
            </a:avLst>
          </a:prstGeom>
          <a:solidFill>
            <a:srgbClr val="138A83"/>
          </a:solidFill>
          <a:ln w="9525" cap="flat" cmpd="sng">
            <a:solidFill>
              <a:srgbClr val="138A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7696200" y="2305050"/>
            <a:ext cx="3581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Produto esperado no PDF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7696200" y="2724150"/>
            <a:ext cx="3581400" cy="155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quadro do contexto e relevância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perfil inicial do público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declaração do problema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pergunta orientadora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slide de participação e 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7429500" y="4762500"/>
            <a:ext cx="40767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Nome sugerido do arquivo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7429500" y="5000625"/>
            <a:ext cx="40767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7543800" y="5086350"/>
            <a:ext cx="3848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Entrega_1_[</a:t>
            </a:r>
            <a:r>
              <a:rPr lang="pt-BR" sz="1200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Nome da Equipe</a:t>
            </a:r>
            <a:r>
              <a:rPr lang="pt-BR" sz="1200" b="0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].pdf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7524750" y="5867400"/>
            <a:ext cx="3886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Anexar um único PDF por equipe no e-Disciplinas.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1 · REGISTRO FINAL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Participação da equipe e transparência sobre uso de 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Incluam apenas os integrantes que efetivamente participaram desta entrega e descrevam a contribuição realizada.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685800" y="1809750"/>
            <a:ext cx="2975610" cy="36195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781050" y="1885950"/>
            <a:ext cx="278511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Nome do integrante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3661410" y="1809750"/>
            <a:ext cx="1487805" cy="36195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3756660" y="1885950"/>
            <a:ext cx="129730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NUSP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5149215" y="1809750"/>
            <a:ext cx="6356985" cy="36195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5244465" y="1885950"/>
            <a:ext cx="616648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 contribuiu para esta atividade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685800" y="217170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781050" y="224790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3661410" y="217170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3756660" y="224790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5149215" y="217170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5244465" y="224790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685800" y="249555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781050" y="257175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3661410" y="249555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3756660" y="257175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5149215" y="249555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5244465" y="257175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685800" y="281940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781050" y="289560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3661410" y="281940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3756660" y="289560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5149215" y="281940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5244465" y="289560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685800" y="314325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781050" y="321945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3661410" y="314325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3756660" y="321945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5149215" y="314325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5244465" y="321945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685800" y="346710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781050" y="354330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3661410" y="346710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3756660" y="354330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5149215" y="346710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5244465" y="354330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685800" y="379095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781050" y="386715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3661410" y="379095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3756660" y="386715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5149215" y="379095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5244465" y="386715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685800" y="411480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781050" y="419100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3661410" y="411480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3756660" y="419100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5149215" y="411480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5244465" y="419100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685800" y="46101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Marque apenas uma opção: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685800" y="4895850"/>
            <a:ext cx="5286375" cy="1352550"/>
          </a:xfrm>
          <a:prstGeom prst="roundRect">
            <a:avLst>
              <a:gd name="adj" fmla="val 7042"/>
            </a:avLst>
          </a:prstGeom>
          <a:solidFill>
            <a:srgbClr val="EAF2FD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857250" y="505777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pt-BR" sz="1650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1257300" y="5000625"/>
            <a:ext cx="4524375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Este trabalho incorpora o uso de IA generativa (por exemplo, ChatGPT) para auxiliar em [especificar uso: brainstorming, revisão gramatical, melhoria de clareza, etc.]. O conteúdo final foi revisado criticamente, editado e reflete minha própria compreensão e análise.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6219825" y="4895850"/>
            <a:ext cx="5286375" cy="1352550"/>
          </a:xfrm>
          <a:prstGeom prst="roundRect">
            <a:avLst>
              <a:gd name="adj" fmla="val 7042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6391275" y="505777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pt-BR" sz="1650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6791325" y="5000625"/>
            <a:ext cx="452437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Declaro que este trabalho foi desenvolvido inteiramente sem o uso de ferramentas de IA generativa para redação, revisão ou qualquer outra etapa do processo.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RG0005 Inovação Clássica">
      <a:dk1>
        <a:srgbClr val="000000"/>
      </a:dk1>
      <a:lt1>
        <a:srgbClr val="FFFFFF"/>
      </a:lt1>
      <a:dk2>
        <a:srgbClr val="0E2841"/>
      </a:dk2>
      <a:lt2>
        <a:srgbClr val="EEF2F7"/>
      </a:lt2>
      <a:accent1>
        <a:srgbClr val="2F80ED"/>
      </a:accent1>
      <a:accent2>
        <a:srgbClr val="138A83"/>
      </a:accent2>
      <a:accent3>
        <a:srgbClr val="D97706"/>
      </a:accent3>
      <a:accent4>
        <a:srgbClr val="6B5CC5"/>
      </a:accent4>
      <a:accent5>
        <a:srgbClr val="2696A6"/>
      </a:accent5>
      <a:accent6>
        <a:srgbClr val="4B7B53"/>
      </a:accent6>
      <a:hlink>
        <a:srgbClr val="2F80ED"/>
      </a:hlink>
      <a:folHlink>
        <a:srgbClr val="6B5CC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PRG0005 Inovação Clássica">
      <a:dk1>
        <a:srgbClr val="000000"/>
      </a:dk1>
      <a:lt1>
        <a:srgbClr val="FFFFFF"/>
      </a:lt1>
      <a:dk2>
        <a:srgbClr val="0E2841"/>
      </a:dk2>
      <a:lt2>
        <a:srgbClr val="EEF2F7"/>
      </a:lt2>
      <a:accent1>
        <a:srgbClr val="2F80ED"/>
      </a:accent1>
      <a:accent2>
        <a:srgbClr val="138A83"/>
      </a:accent2>
      <a:accent3>
        <a:srgbClr val="D97706"/>
      </a:accent3>
      <a:accent4>
        <a:srgbClr val="6B5CC5"/>
      </a:accent4>
      <a:accent5>
        <a:srgbClr val="2696A6"/>
      </a:accent5>
      <a:accent6>
        <a:srgbClr val="4B7B53"/>
      </a:accent6>
      <a:hlink>
        <a:srgbClr val="2F80ED"/>
      </a:hlink>
      <a:folHlink>
        <a:srgbClr val="6B5CC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1311</Words>
  <Application>Microsoft Macintosh PowerPoint</Application>
  <PresentationFormat>Widescreen</PresentationFormat>
  <Paragraphs>203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Walnut Exporter</dc:creator>
  <cp:lastModifiedBy>Marcelo Vieira</cp:lastModifiedBy>
  <cp:revision>1</cp:revision>
  <dcterms:created xsi:type="dcterms:W3CDTF">2026-08-27T18:47:51Z</dcterms:created>
  <dcterms:modified xsi:type="dcterms:W3CDTF">2026-09-21T21:36:22Z</dcterms:modified>
</cp:coreProperties>
</file>