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3X1f7ZfXL9dWkP/ZPvDrUeEqv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111" d="100"/>
          <a:sy n="111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" name="Google Shape;37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38A83"/>
          </a:solidFill>
          <a:ln w="9525" cap="flat" cmpd="sng">
            <a:solidFill>
              <a:srgbClr val="138A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285" y="0"/>
            <a:ext cx="358330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/>
          <p:nvPr/>
        </p:nvSpPr>
        <p:spPr>
          <a:xfrm>
            <a:off x="742950" y="571500"/>
            <a:ext cx="1238250" cy="30480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EAF2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1"/>
          <p:cNvSpPr/>
          <p:nvPr/>
        </p:nvSpPr>
        <p:spPr>
          <a:xfrm>
            <a:off x="838200" y="619125"/>
            <a:ext cx="1047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1"/>
          <p:cNvSpPr/>
          <p:nvPr/>
        </p:nvSpPr>
        <p:spPr>
          <a:xfrm>
            <a:off x="742950" y="1066800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ENTREVISTAS E MAPA DE EMPATIA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1"/>
          <p:cNvSpPr/>
          <p:nvPr/>
        </p:nvSpPr>
        <p:spPr>
          <a:xfrm>
            <a:off x="742950" y="1504950"/>
            <a:ext cx="7143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Empatizar com o público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1"/>
          <p:cNvSpPr/>
          <p:nvPr/>
        </p:nvSpPr>
        <p:spPr>
          <a:xfrm>
            <a:off x="781050" y="3048000"/>
            <a:ext cx="65722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Cada integrante realizará uma entrevista de empatia e a equipe organizará os achados sem expor participantes.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1"/>
          <p:cNvSpPr/>
          <p:nvPr/>
        </p:nvSpPr>
        <p:spPr>
          <a:xfrm>
            <a:off x="781050" y="4333875"/>
            <a:ext cx="7334250" cy="1104900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1"/>
          <p:cNvSpPr/>
          <p:nvPr/>
        </p:nvSpPr>
        <p:spPr>
          <a:xfrm>
            <a:off x="1028700" y="4552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PRODUTO DESTA ENTREGA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1"/>
          <p:cNvSpPr/>
          <p:nvPr/>
        </p:nvSpPr>
        <p:spPr>
          <a:xfrm>
            <a:off x="1028700" y="4876800"/>
            <a:ext cx="67627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1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Plano de entrevistas + um mapa por entrevista + síntese coletiva de padrões, diferenças e implicações.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1"/>
          <p:cNvSpPr/>
          <p:nvPr/>
        </p:nvSpPr>
        <p:spPr>
          <a:xfrm>
            <a:off x="8572500" y="40957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Prazo no e-Disciplinas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8572500" y="4333875"/>
            <a:ext cx="28575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1"/>
          <p:cNvSpPr/>
          <p:nvPr/>
        </p:nvSpPr>
        <p:spPr>
          <a:xfrm>
            <a:off x="8686800" y="4419600"/>
            <a:ext cx="26289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i="1" dirty="0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09/10/2026 até às 23:59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1"/>
          <p:cNvSpPr/>
          <p:nvPr/>
        </p:nvSpPr>
        <p:spPr>
          <a:xfrm>
            <a:off x="8572500" y="5191125"/>
            <a:ext cx="2857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Formato: um único arquivo PDF por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742950" y="64008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/>
          <p:nvPr/>
        </p:nvSpPr>
        <p:spPr>
          <a:xfrm>
            <a:off x="11049000" y="6400800"/>
            <a:ext cx="476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88316" y="6143625"/>
            <a:ext cx="930567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21975" y="6200775"/>
            <a:ext cx="5588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PREPARAÇÃO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2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Planejem a escuta e protejam a privacidade dos participantes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2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2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entrevista de empatia busca compreender experiências, necessidades, comportamentos e emoções por meio de perguntas abertas.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2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2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2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2"/>
          <p:cNvSpPr/>
          <p:nvPr/>
        </p:nvSpPr>
        <p:spPr>
          <a:xfrm>
            <a:off x="685800" y="1952625"/>
            <a:ext cx="5143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Perfil geral dos participantes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2"/>
          <p:cNvSpPr/>
          <p:nvPr/>
        </p:nvSpPr>
        <p:spPr>
          <a:xfrm>
            <a:off x="685800" y="2190750"/>
            <a:ext cx="5143500" cy="685800"/>
          </a:xfrm>
          <a:prstGeom prst="roundRect">
            <a:avLst>
              <a:gd name="adj" fmla="val 11111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/>
          <p:nvPr/>
        </p:nvSpPr>
        <p:spPr>
          <a:xfrm>
            <a:off x="800100" y="2276475"/>
            <a:ext cx="4914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Quais perfis dentro do público inicial precisam ser ouvidos?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2"/>
          <p:cNvSpPr/>
          <p:nvPr/>
        </p:nvSpPr>
        <p:spPr>
          <a:xfrm>
            <a:off x="685800" y="3143250"/>
            <a:ext cx="5143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Diversidade de situações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/>
          <p:nvPr/>
        </p:nvSpPr>
        <p:spPr>
          <a:xfrm>
            <a:off x="685800" y="3381375"/>
            <a:ext cx="5143500" cy="685800"/>
          </a:xfrm>
          <a:prstGeom prst="roundRect">
            <a:avLst>
              <a:gd name="adj" fmla="val 11111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800100" y="3467100"/>
            <a:ext cx="4914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diferenças de contexto podem ampliar a compreensão do problema?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2"/>
          <p:cNvSpPr/>
          <p:nvPr/>
        </p:nvSpPr>
        <p:spPr>
          <a:xfrm>
            <a:off x="685800" y="4333875"/>
            <a:ext cx="5143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Organização da equipe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2"/>
          <p:cNvSpPr/>
          <p:nvPr/>
        </p:nvSpPr>
        <p:spPr>
          <a:xfrm>
            <a:off x="685800" y="4572000"/>
            <a:ext cx="5143500" cy="838200"/>
          </a:xfrm>
          <a:prstGeom prst="roundRect">
            <a:avLst>
              <a:gd name="adj" fmla="val 9091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2"/>
          <p:cNvSpPr/>
          <p:nvPr/>
        </p:nvSpPr>
        <p:spPr>
          <a:xfrm>
            <a:off x="800100" y="4657725"/>
            <a:ext cx="4914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Quem entrevistará? Como os registros serão reunidos e anonimizados?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6362700" y="1981200"/>
            <a:ext cx="5143500" cy="2952750"/>
          </a:xfrm>
          <a:prstGeom prst="roundRect">
            <a:avLst>
              <a:gd name="adj" fmla="val 3871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6362700" y="1981200"/>
            <a:ext cx="66675" cy="2952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/>
          <p:nvPr/>
        </p:nvSpPr>
        <p:spPr>
          <a:xfrm>
            <a:off x="6629400" y="2190750"/>
            <a:ext cx="4648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Cuidados essenciais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2"/>
          <p:cNvSpPr/>
          <p:nvPr/>
        </p:nvSpPr>
        <p:spPr>
          <a:xfrm>
            <a:off x="6629400" y="2609850"/>
            <a:ext cx="4648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participação voluntária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explicar a finalidade acadêmica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não registrar nome, contato, imagem, diagnóstico ou outra informação identificável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não gravar sem autorização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permitir que a pessoa não responda ou encerre a conversa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2"/>
          <p:cNvSpPr/>
          <p:nvPr/>
        </p:nvSpPr>
        <p:spPr>
          <a:xfrm>
            <a:off x="6362700" y="5219700"/>
            <a:ext cx="5143500" cy="666750"/>
          </a:xfrm>
          <a:prstGeom prst="roundRect">
            <a:avLst>
              <a:gd name="adj" fmla="val 14286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6610350" y="5331619"/>
            <a:ext cx="4648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Cada integrante deverá realizar uma entrevista, conforme o material-base da atividade.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ROTEIRO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Conduzam uma conversa aberta sem induzir respostas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Usem as perguntas como guia; façam perguntas de aprofundamento quando a pessoa trouxer exemplos relevantes.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685800" y="18669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771525" y="19431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1257300" y="190500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Conte-me sobre a última vez em que você vivenciou essa situação.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1257300" y="231457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685800" y="24098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771525" y="24860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1257300" y="2447925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você precisava fazer ou alcançar naquele momento?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1257300" y="2857500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685800" y="29527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771525" y="30289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1257300" y="299085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tornou a situação difícil?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1257300" y="340042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85800" y="349567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71525" y="357187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257300" y="3533775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você fez para lidar com a dificuldade?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257300" y="3943350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85800" y="40386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771525" y="4114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1257300" y="407670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funcionou bem e o que não funcionou?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257300" y="448627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685800" y="45815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771525" y="46577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1257300" y="4619625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você pensou ou sentiu durante essa experiência?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257300" y="5029200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685800" y="51244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771525" y="52006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1257300" y="516255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 algo pudesse melhorar nessa situação, qual resultado seria mais importante?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1257300" y="557212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685800" y="5753100"/>
            <a:ext cx="10820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Pergunta específica da equipe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685800" y="5991225"/>
            <a:ext cx="10820400" cy="428625"/>
          </a:xfrm>
          <a:prstGeom prst="roundRect">
            <a:avLst>
              <a:gd name="adj" fmla="val 17778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800100" y="6076950"/>
            <a:ext cx="105918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Inclua uma pergunta aberta relacionada à incerteza prioritária da Entrega 1.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ORIENTAÇÃO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Transformem a entrevista em um mapa de empatia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Registrem frases curtas, exemplos e comportamentos observáveis. Diferenciem o que foi dito do que a equipe interpretou.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85800" y="1924050"/>
            <a:ext cx="2674829" cy="3810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781050" y="2000250"/>
            <a:ext cx="248432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do mapa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3360629" y="1924050"/>
            <a:ext cx="5135671" cy="3810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3455879" y="2000250"/>
            <a:ext cx="494517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Pergunta de síntese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685800" y="23050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781050" y="23812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1 · Com quem empatizamos?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3360629" y="23050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3455879" y="23812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Qual perfil geral e situação são relevantes?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685800" y="28384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781050" y="29146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2 · O que precisa fazer?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3360629" y="28384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3455879" y="29146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tarefa, objetivo ou decisão precisa realizar?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685800" y="33718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781050" y="34480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3 · O que vê?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360629" y="33718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3455879" y="34480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pessoas, ambientes, informações ou alternativas influenciam?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685800" y="39052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781050" y="39814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4 · O que fala?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3360629" y="39052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3455879" y="39814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Quais afirmações ou palavras recorrentes apareceram?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685800" y="44386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781050" y="45148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5 · O que faz?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3360629" y="44386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3455879" y="45148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comportamentos e estratégias utiliza na prática?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685800" y="49720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781050" y="50482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6 · O que escuta?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3360629" y="49720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3455879" y="50482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opiniões, orientações ou pressões recebe?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685800" y="5505450"/>
            <a:ext cx="2674829" cy="5143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781050" y="5581650"/>
            <a:ext cx="248432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7 · O que pensa e sente?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3360629" y="5505450"/>
            <a:ext cx="5135671" cy="5143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3455879" y="5581650"/>
            <a:ext cx="494517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Quais dores, desejos, receios e expectativas emergem?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8858250" y="2076450"/>
            <a:ext cx="2647950" cy="3238500"/>
          </a:xfrm>
          <a:prstGeom prst="roundRect">
            <a:avLst>
              <a:gd name="adj" fmla="val 4317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8858250" y="2076450"/>
            <a:ext cx="66675" cy="3238500"/>
          </a:xfrm>
          <a:prstGeom prst="roundRect">
            <a:avLst>
              <a:gd name="adj" fmla="val 50000"/>
            </a:avLst>
          </a:prstGeom>
          <a:solidFill>
            <a:srgbClr val="138A83"/>
          </a:solidFill>
          <a:ln w="9525" cap="flat" cmpd="sng">
            <a:solidFill>
              <a:srgbClr val="138A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9124950" y="2286000"/>
            <a:ext cx="2152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Como usar o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9124950" y="2705100"/>
            <a:ext cx="2152650" cy="245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1. Dupliquem o próximo slide uma vez por entrevista.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2. Identifiquem apenas a entrevista por código: E1, E2, E3...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3. Preencham os sete campos.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4. Retirem qualquer detalhe que possa identificar a pessoa.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5. Reúnam os mapas para a síntese coletiva.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8858250" y="5429250"/>
            <a:ext cx="2647950" cy="685800"/>
          </a:xfrm>
          <a:prstGeom prst="roundRect">
            <a:avLst>
              <a:gd name="adj" fmla="val 11111"/>
            </a:avLst>
          </a:prstGeom>
          <a:solidFill>
            <a:srgbClr val="FFF4DE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9010650" y="5543550"/>
            <a:ext cx="2343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Não “corrija” a fala do participante para fazê-la caber na ideia da equipe.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TEMPLATE DUPLICÁVEL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uma cópia por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[E1]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1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[perfil geral]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aqui.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name="adj" fmla="val 1379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aqui.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162550" y="3286125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5276850" y="337185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aqui.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5162550" y="4191000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276850" y="4276725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aqui.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aqui.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name="adj" fmla="val 1290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aqui.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114675" y="3800475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Dores, desejos, pensamentos e sentimentos.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name="adj" fmla="val 4444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endParaRPr sz="1275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8115300" y="4857750"/>
            <a:ext cx="3276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Qual achado merece ser levado à síntese coletiva?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Duplique este slide para E2, E3, E4... conforme o número de integrantes/entrevistas.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SÍNTESE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Comparem os mapas e sintetizem os achados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Um padrão exige recorrência ou convergência entre relatos; uma interpretação da equipe deve ser identificada como tal.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457200" y="1924050"/>
            <a:ext cx="1775178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552450" y="2000250"/>
            <a:ext cx="158467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2232378" y="1924050"/>
            <a:ext cx="2610556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2327628" y="2000250"/>
            <a:ext cx="242005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Padrões ou convergências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4842933" y="1924050"/>
            <a:ext cx="2401711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4938183" y="2000250"/>
            <a:ext cx="221121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Diferenças ou tensões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7244644" y="1924050"/>
            <a:ext cx="2088444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7339894" y="2000250"/>
            <a:ext cx="189794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Evidências anônimas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9333089" y="1924050"/>
            <a:ext cx="2401711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9428339" y="2000250"/>
            <a:ext cx="221121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Implicação para o projeto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457200" y="2419350"/>
            <a:ext cx="1775178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552450" y="249555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Necessidades e objetivos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2232378" y="2419350"/>
            <a:ext cx="2610556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2327628" y="249555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4842933" y="241935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4938183" y="24955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7244644" y="2419350"/>
            <a:ext cx="208844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7339894" y="249555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Códigos E1, E2...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9333089" y="241935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9428339" y="24955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 que isso sugere?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457200" y="3124200"/>
            <a:ext cx="1775178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552450" y="320040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Dificuldades e dores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2232378" y="3124200"/>
            <a:ext cx="2610556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2327628" y="320040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4842933" y="312420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4938183" y="32004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7244644" y="3124200"/>
            <a:ext cx="208844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7339894" y="320040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Códigos E1, E2...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9333089" y="312420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9428339" y="32004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 que isso sugere?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457200" y="3829050"/>
            <a:ext cx="1775178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552450" y="390525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Comportamentos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2232378" y="3829050"/>
            <a:ext cx="2610556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2327628" y="390525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4842933" y="382905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4938183" y="39052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7244644" y="3829050"/>
            <a:ext cx="208844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7339894" y="390525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Códigos E1, E2...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9333089" y="382905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9428339" y="39052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 que isso sugere?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457200" y="4533900"/>
            <a:ext cx="1775178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552450" y="461010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Alternativas atuais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2232378" y="4533900"/>
            <a:ext cx="2610556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2327628" y="461010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842933" y="453390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4938183" y="46101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7244644" y="4533900"/>
            <a:ext cx="208844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7339894" y="461010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Códigos E1, E2...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9333089" y="453390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9428339" y="46101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 que isso sugere?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457200" y="5238750"/>
            <a:ext cx="1775178" cy="6858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552450" y="5314950"/>
            <a:ext cx="158467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Desejos e expectativas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2232378" y="5238750"/>
            <a:ext cx="2610556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2327628" y="5314950"/>
            <a:ext cx="242005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4842933" y="5238750"/>
            <a:ext cx="2401711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4938183" y="5314950"/>
            <a:ext cx="2211211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7244644" y="5238750"/>
            <a:ext cx="2088444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7339894" y="5314950"/>
            <a:ext cx="1897944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Códigos E1, E2...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9333089" y="5238750"/>
            <a:ext cx="2401711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9428339" y="5314950"/>
            <a:ext cx="2211211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O que isso sugere?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685800" y="607695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Não somem opiniões como se fossem dados quantitativos. Usem os registros para sustentar interpretações e decisões.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REVISÃO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Confiram a qualidade dos registros de empatia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entrega deve permitir que outra pessoa reconheça de onde vieram os principais insights, sem identificar participantes.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685800" y="20193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752475" y="20574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1162050" y="20288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Cada integrante realizou uma entrevista de empatia.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685800" y="26098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752475" y="26479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1162050" y="261937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Há um mapa preenchido para cada entrevista, identificado apenas por código.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685800" y="32004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752475" y="32385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1162050" y="32099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Os registros distinguem falas/experiências de interpretações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685800" y="37909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752475" y="38290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1162050" y="380047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Nenhuma informação pessoal identificável foi incluída.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685800" y="43815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752475" y="44196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1162050" y="43910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síntese registra padrões, diferenças, evidências e implicações.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7429500" y="2095500"/>
            <a:ext cx="4076700" cy="2190750"/>
          </a:xfrm>
          <a:prstGeom prst="roundRect">
            <a:avLst>
              <a:gd name="adj" fmla="val 5217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7429500" y="2095500"/>
            <a:ext cx="66675" cy="2190750"/>
          </a:xfrm>
          <a:prstGeom prst="roundRect">
            <a:avLst>
              <a:gd name="adj" fmla="val 50000"/>
            </a:avLst>
          </a:prstGeom>
          <a:solidFill>
            <a:srgbClr val="138A83"/>
          </a:solidFill>
          <a:ln w="9525" cap="flat" cmpd="sng">
            <a:solidFill>
              <a:srgbClr val="138A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7696200" y="2305050"/>
            <a:ext cx="3581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Produto esperado no PDF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7696200" y="2724150"/>
            <a:ext cx="35814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plano/organização da escuta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mapas de empatia (um por entrevista)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síntese coletiva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slide de participação e 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7429500" y="4667250"/>
            <a:ext cx="40767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Nome sugerido do arquivo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7429500" y="4905375"/>
            <a:ext cx="40767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7543800" y="4991100"/>
            <a:ext cx="3848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Entrega_2_[Nome_da_Equipe].pdf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7524750" y="5867400"/>
            <a:ext cx="3886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Anexar um único PDF por equipe no e-Disciplinas.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REGISTRO FINAL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Participação da equipe e transparência sobre uso de 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Incluam apenas os integrantes que efetivamente participaram desta entrega e descrevam a contribuição realizada.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685800" y="1809750"/>
            <a:ext cx="2975610" cy="3619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781050" y="1885950"/>
            <a:ext cx="278511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Nome do integrante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3661410" y="1809750"/>
            <a:ext cx="1487805" cy="3619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3756660" y="1885950"/>
            <a:ext cx="12973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NUSP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5149215" y="1809750"/>
            <a:ext cx="6356985" cy="3619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5244465" y="1885950"/>
            <a:ext cx="616648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contribuiu para esta atividade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685800" y="21717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781050" y="22479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3661410" y="21717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3756660" y="22479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5149215" y="21717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5244465" y="22479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685800" y="249555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781050" y="25717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3661410" y="249555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3756660" y="25717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5149215" y="249555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5244465" y="25717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685800" y="28194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781050" y="28956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3661410" y="28194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3756660" y="28956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5149215" y="28194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5244465" y="28956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685800" y="314325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781050" y="32194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3661410" y="314325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3756660" y="32194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5149215" y="314325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5244465" y="32194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685800" y="34671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781050" y="35433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3661410" y="34671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3756660" y="35433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5149215" y="34671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5244465" y="35433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685800" y="379095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781050" y="38671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3661410" y="379095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3756660" y="38671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5149215" y="379095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5244465" y="38671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685800" y="41148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781050" y="41910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3661410" y="41148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3756660" y="41910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Digite o NUSP.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5149215" y="41148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5244465" y="41910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1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Descreva de forma objetiva a contribuição.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685800" y="4610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Marque apenas uma opção: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685800" y="4895850"/>
            <a:ext cx="5286375" cy="1352550"/>
          </a:xfrm>
          <a:prstGeom prst="roundRect">
            <a:avLst>
              <a:gd name="adj" fmla="val 7042"/>
            </a:avLst>
          </a:prstGeom>
          <a:solidFill>
            <a:srgbClr val="EAF2FD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857250" y="50577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pt-BR" sz="1650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1257300" y="5000625"/>
            <a:ext cx="4524375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Este trabalho incorpora o uso de IA generativa (por exemplo, ChatGPT) para auxiliar em [especificar uso: brainstorming, revisão gramatical, melhoria de clareza, etc.]. O conteúdo final foi revisado criticamente, editado e reflete minha própria compreensão e análise.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6219825" y="4895850"/>
            <a:ext cx="5286375" cy="1352550"/>
          </a:xfrm>
          <a:prstGeom prst="roundRect">
            <a:avLst>
              <a:gd name="adj" fmla="val 7042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6391275" y="50577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pt-BR" sz="1650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6791325" y="5000625"/>
            <a:ext cx="45243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Declaro que este trabalho foi desenvolvido inteiramente sem o uso de ferramentas de IA generativa para redação, revisão ou qualquer outra etapa do processo.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RG0005 Inovação Clássica">
      <a:dk1>
        <a:srgbClr val="000000"/>
      </a:dk1>
      <a:lt1>
        <a:srgbClr val="FFFFFF"/>
      </a:lt1>
      <a:dk2>
        <a:srgbClr val="0E2841"/>
      </a:dk2>
      <a:lt2>
        <a:srgbClr val="EEF2F7"/>
      </a:lt2>
      <a:accent1>
        <a:srgbClr val="2F80ED"/>
      </a:accent1>
      <a:accent2>
        <a:srgbClr val="138A83"/>
      </a:accent2>
      <a:accent3>
        <a:srgbClr val="D97706"/>
      </a:accent3>
      <a:accent4>
        <a:srgbClr val="6B5CC5"/>
      </a:accent4>
      <a:accent5>
        <a:srgbClr val="2696A6"/>
      </a:accent5>
      <a:accent6>
        <a:srgbClr val="4B7B53"/>
      </a:accent6>
      <a:hlink>
        <a:srgbClr val="2F80ED"/>
      </a:hlink>
      <a:folHlink>
        <a:srgbClr val="6B5C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PRG0005 Inovação Clássica">
      <a:dk1>
        <a:srgbClr val="000000"/>
      </a:dk1>
      <a:lt1>
        <a:srgbClr val="FFFFFF"/>
      </a:lt1>
      <a:dk2>
        <a:srgbClr val="0E2841"/>
      </a:dk2>
      <a:lt2>
        <a:srgbClr val="EEF2F7"/>
      </a:lt2>
      <a:accent1>
        <a:srgbClr val="2F80ED"/>
      </a:accent1>
      <a:accent2>
        <a:srgbClr val="138A83"/>
      </a:accent2>
      <a:accent3>
        <a:srgbClr val="D97706"/>
      </a:accent3>
      <a:accent4>
        <a:srgbClr val="6B5CC5"/>
      </a:accent4>
      <a:accent5>
        <a:srgbClr val="2696A6"/>
      </a:accent5>
      <a:accent6>
        <a:srgbClr val="4B7B53"/>
      </a:accent6>
      <a:hlink>
        <a:srgbClr val="2F80ED"/>
      </a:hlink>
      <a:folHlink>
        <a:srgbClr val="6B5C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1224</Words>
  <Application>Microsoft Macintosh PowerPoint</Application>
  <PresentationFormat>Widescreen</PresentationFormat>
  <Paragraphs>201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Walnut Exporter</dc:creator>
  <cp:lastModifiedBy>Marcelo Vieira</cp:lastModifiedBy>
  <cp:revision>1</cp:revision>
  <dcterms:created xsi:type="dcterms:W3CDTF">2026-08-27T18:47:51Z</dcterms:created>
  <dcterms:modified xsi:type="dcterms:W3CDTF">2026-10-02T11:41:59Z</dcterms:modified>
</cp:coreProperties>
</file>