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DzpSqxrWGiGhBMxmbFu7W/kbF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" name="Google Shape;3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0" name="Google Shape;45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38A83"/>
          </a:solidFill>
          <a:ln cap="flat" cmpd="sng" w="9525">
            <a:solidFill>
              <a:srgbClr val="138A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6285" y="0"/>
            <a:ext cx="358330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/>
          <p:nvPr/>
        </p:nvSpPr>
        <p:spPr>
          <a:xfrm>
            <a:off x="742950" y="571500"/>
            <a:ext cx="1238250" cy="304800"/>
          </a:xfrm>
          <a:prstGeom prst="roundRect">
            <a:avLst>
              <a:gd fmla="val 50000" name="adj"/>
            </a:avLst>
          </a:prstGeom>
          <a:solidFill>
            <a:srgbClr val="EAF2FD"/>
          </a:solidFill>
          <a:ln cap="flat" cmpd="sng" w="9525">
            <a:solidFill>
              <a:srgbClr val="EAF2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1"/>
          <p:cNvSpPr/>
          <p:nvPr/>
        </p:nvSpPr>
        <p:spPr>
          <a:xfrm>
            <a:off x="838200" y="619125"/>
            <a:ext cx="1047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1050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1"/>
          <p:cNvSpPr/>
          <p:nvPr/>
        </p:nvSpPr>
        <p:spPr>
          <a:xfrm>
            <a:off x="742950" y="1066800"/>
            <a:ext cx="619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ENTREVISTAS E MAPA DE EMPATIA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1"/>
          <p:cNvSpPr/>
          <p:nvPr/>
        </p:nvSpPr>
        <p:spPr>
          <a:xfrm>
            <a:off x="742950" y="1504950"/>
            <a:ext cx="7143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Empatizar com o público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1"/>
          <p:cNvSpPr/>
          <p:nvPr/>
        </p:nvSpPr>
        <p:spPr>
          <a:xfrm>
            <a:off x="781050" y="3048000"/>
            <a:ext cx="65722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0" i="0" lang="pt-BR" sz="1575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Cada integrante realizará uma entrevista de empatia e a equipe organizará os achados sem expor participantes.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1"/>
          <p:cNvSpPr/>
          <p:nvPr/>
        </p:nvSpPr>
        <p:spPr>
          <a:xfrm>
            <a:off x="781050" y="4333875"/>
            <a:ext cx="7334250" cy="1104900"/>
          </a:xfrm>
          <a:prstGeom prst="roundRect">
            <a:avLst>
              <a:gd fmla="val 10345" name="adj"/>
            </a:avLst>
          </a:prstGeom>
          <a:solidFill>
            <a:srgbClr val="F8FA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1"/>
          <p:cNvSpPr/>
          <p:nvPr/>
        </p:nvSpPr>
        <p:spPr>
          <a:xfrm>
            <a:off x="1028700" y="4552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10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PRODUTO DESTA ENTREGA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1"/>
          <p:cNvSpPr/>
          <p:nvPr/>
        </p:nvSpPr>
        <p:spPr>
          <a:xfrm>
            <a:off x="1028700" y="4876800"/>
            <a:ext cx="6762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pt-BR" sz="13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Plano de entrevistas + um mapa por entrevista + síntese coletiva de padrões, diferenças e implicações.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1"/>
          <p:cNvSpPr/>
          <p:nvPr/>
        </p:nvSpPr>
        <p:spPr>
          <a:xfrm>
            <a:off x="8572500" y="40957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Prazo no e-Disciplinas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8572500" y="4333875"/>
            <a:ext cx="2857500" cy="5715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1"/>
          <p:cNvSpPr/>
          <p:nvPr/>
        </p:nvSpPr>
        <p:spPr>
          <a:xfrm>
            <a:off x="8686800" y="4419600"/>
            <a:ext cx="2628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pt-BR" sz="120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09/10/2026 até às 23:59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1"/>
          <p:cNvSpPr/>
          <p:nvPr/>
        </p:nvSpPr>
        <p:spPr>
          <a:xfrm>
            <a:off x="8572500" y="5191125"/>
            <a:ext cx="2857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pt-BR" sz="127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Formato: um único arquivo PDF por equipe.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742950" y="64008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1"/>
          <p:cNvSpPr/>
          <p:nvPr/>
        </p:nvSpPr>
        <p:spPr>
          <a:xfrm>
            <a:off x="11049000" y="6400800"/>
            <a:ext cx="47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88316" y="6143625"/>
            <a:ext cx="930567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21975" y="6200775"/>
            <a:ext cx="5588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2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PREPARAÇÃO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2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Planejem a escuta e protejam a privacidade dos participantes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2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2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135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A entrevista de empatia busca compreender experiências, necessidades, comportamentos e emoções por meio de perguntas abertas.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2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2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pt-BR" sz="825" u="none" cap="none" strike="noStrik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2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2"/>
          <p:cNvSpPr/>
          <p:nvPr/>
        </p:nvSpPr>
        <p:spPr>
          <a:xfrm>
            <a:off x="685800" y="1952625"/>
            <a:ext cx="5143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Perfil geral dos participantes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2"/>
          <p:cNvSpPr/>
          <p:nvPr/>
        </p:nvSpPr>
        <p:spPr>
          <a:xfrm>
            <a:off x="685800" y="2190750"/>
            <a:ext cx="5143500" cy="685800"/>
          </a:xfrm>
          <a:prstGeom prst="roundRect">
            <a:avLst>
              <a:gd fmla="val 11111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2"/>
          <p:cNvSpPr/>
          <p:nvPr/>
        </p:nvSpPr>
        <p:spPr>
          <a:xfrm>
            <a:off x="800100" y="2276475"/>
            <a:ext cx="4914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98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Perfis analisados: E1 e E5, estudantes que estudam em grupo; E2, estudante que produz resumos para colegas; E3, estudante que alterna estudos individuais e coletivos; E4, estudante que concilia trabalho e faculdade.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2"/>
          <p:cNvSpPr/>
          <p:nvPr/>
        </p:nvSpPr>
        <p:spPr>
          <a:xfrm>
            <a:off x="685800" y="3143250"/>
            <a:ext cx="5143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Diversidade de situações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/>
          <p:nvPr/>
        </p:nvSpPr>
        <p:spPr>
          <a:xfrm>
            <a:off x="685800" y="3381375"/>
            <a:ext cx="5143500" cy="685800"/>
          </a:xfrm>
          <a:prstGeom prst="roundRect">
            <a:avLst>
              <a:gd fmla="val 11111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2"/>
          <p:cNvSpPr/>
          <p:nvPr/>
        </p:nvSpPr>
        <p:spPr>
          <a:xfrm>
            <a:off x="800100" y="3467100"/>
            <a:ext cx="4914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0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Registro de soluções em papel (E1), elaboração de materiais digitais (E2), busca por orientações acadêmicas (E3), estudo em intervalos curtos (E4) e organização de informações em grupos grandes (E5).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2"/>
          <p:cNvSpPr/>
          <p:nvPr/>
        </p:nvSpPr>
        <p:spPr>
          <a:xfrm>
            <a:off x="685800" y="4333875"/>
            <a:ext cx="5143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Organização da equipe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2"/>
          <p:cNvSpPr/>
          <p:nvPr/>
        </p:nvSpPr>
        <p:spPr>
          <a:xfrm>
            <a:off x="685800" y="4572000"/>
            <a:ext cx="5143500" cy="838200"/>
          </a:xfrm>
          <a:prstGeom prst="roundRect">
            <a:avLst>
              <a:gd fmla="val 9091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2"/>
          <p:cNvSpPr/>
          <p:nvPr/>
        </p:nvSpPr>
        <p:spPr>
          <a:xfrm>
            <a:off x="800100" y="4657725"/>
            <a:ext cx="4914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02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Cauê fez E1, Enzo E2, Letícia E3, Lázaro E4 e Vitor E5. Os registros usam códigos. A equipe reuniu cinco mapas e uma síntese sem identificar entrevistados.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2"/>
          <p:cNvSpPr/>
          <p:nvPr/>
        </p:nvSpPr>
        <p:spPr>
          <a:xfrm>
            <a:off x="6362700" y="1981200"/>
            <a:ext cx="5143500" cy="2952750"/>
          </a:xfrm>
          <a:prstGeom prst="roundRect">
            <a:avLst>
              <a:gd fmla="val 3871" name="adj"/>
            </a:avLst>
          </a:prstGeom>
          <a:solidFill>
            <a:srgbClr val="FFF4DE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6362700" y="1981200"/>
            <a:ext cx="66675" cy="2952750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2"/>
          <p:cNvSpPr/>
          <p:nvPr/>
        </p:nvSpPr>
        <p:spPr>
          <a:xfrm>
            <a:off x="6629400" y="2190750"/>
            <a:ext cx="4648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pt-BR" sz="157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Cuidados essenciais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2"/>
          <p:cNvSpPr/>
          <p:nvPr/>
        </p:nvSpPr>
        <p:spPr>
          <a:xfrm>
            <a:off x="6629400" y="2609850"/>
            <a:ext cx="464820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participação voluntária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explicar a finalidade acadêmica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não registrar nome, contato, imagem, diagnóstico ou outra informação identificável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não gravar sem autorização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permitir que a pessoa não responda ou encerre a conversa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2"/>
          <p:cNvSpPr/>
          <p:nvPr/>
        </p:nvSpPr>
        <p:spPr>
          <a:xfrm>
            <a:off x="6362700" y="5219700"/>
            <a:ext cx="5143500" cy="666750"/>
          </a:xfrm>
          <a:prstGeom prst="roundRect">
            <a:avLst>
              <a:gd fmla="val 14286" name="adj"/>
            </a:avLst>
          </a:prstGeom>
          <a:solidFill>
            <a:srgbClr val="E8F5F3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6610350" y="5331619"/>
            <a:ext cx="4648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pt-BR" sz="127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Cada integrante deverá realizar uma entrevista, conforme o material-base da atividade.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ROTEIRO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Conduzam uma conversa aberta sem induzir respostas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135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Usem as perguntas como guia. Façam perguntas de aprofundamento quando a pessoa trouxer exemplos relevantes.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pt-BR" sz="825" u="none" cap="none" strike="noStrik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685800" y="1866900"/>
            <a:ext cx="400050" cy="400050"/>
          </a:xfrm>
          <a:prstGeom prst="roundRect">
            <a:avLst>
              <a:gd fmla="val 50000" name="adj"/>
            </a:avLst>
          </a:prstGeom>
          <a:solidFill>
            <a:srgbClr val="EAF2FD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771525" y="19431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pt-BR" sz="127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1257300" y="1905000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Conte-me sobre a última vez em que você vivenciou essa situação.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1257300" y="2314575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685800" y="2409825"/>
            <a:ext cx="400050" cy="400050"/>
          </a:xfrm>
          <a:prstGeom prst="roundRect">
            <a:avLst>
              <a:gd fmla="val 50000" name="adj"/>
            </a:avLst>
          </a:prstGeom>
          <a:solidFill>
            <a:srgbClr val="E8F5F3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771525" y="248602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pt-BR" sz="1275" u="none" cap="none" strike="noStrik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1257300" y="2447925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você precisava fazer ou alcançar naquele momento?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1257300" y="2857500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685800" y="2952750"/>
            <a:ext cx="400050" cy="400050"/>
          </a:xfrm>
          <a:prstGeom prst="roundRect">
            <a:avLst>
              <a:gd fmla="val 50000" name="adj"/>
            </a:avLst>
          </a:prstGeom>
          <a:solidFill>
            <a:srgbClr val="EAF2FD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771525" y="30289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pt-BR" sz="127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1257300" y="2990850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tornou a situação difícil?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1257300" y="3400425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85800" y="3495675"/>
            <a:ext cx="400050" cy="400050"/>
          </a:xfrm>
          <a:prstGeom prst="roundRect">
            <a:avLst>
              <a:gd fmla="val 50000" name="adj"/>
            </a:avLst>
          </a:prstGeom>
          <a:solidFill>
            <a:srgbClr val="E8F5F3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71525" y="357187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pt-BR" sz="1275" u="none" cap="none" strike="noStrik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257300" y="3533775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você fez para lidar com a dificuldade?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1257300" y="3943350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85800" y="4038600"/>
            <a:ext cx="400050" cy="400050"/>
          </a:xfrm>
          <a:prstGeom prst="roundRect">
            <a:avLst>
              <a:gd fmla="val 50000" name="adj"/>
            </a:avLst>
          </a:prstGeom>
          <a:solidFill>
            <a:srgbClr val="EAF2FD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771525" y="41148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pt-BR" sz="127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1257300" y="4076700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funcionou bem e o que não funcionou?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1257300" y="4486275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685800" y="4581525"/>
            <a:ext cx="400050" cy="400050"/>
          </a:xfrm>
          <a:prstGeom prst="roundRect">
            <a:avLst>
              <a:gd fmla="val 50000" name="adj"/>
            </a:avLst>
          </a:prstGeom>
          <a:solidFill>
            <a:srgbClr val="E8F5F3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771525" y="465772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pt-BR" sz="1275" u="none" cap="none" strike="noStrik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1257300" y="4619625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você pensou ou sentiu durante essa experiência?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1257300" y="5029200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685800" y="5124450"/>
            <a:ext cx="400050" cy="400050"/>
          </a:xfrm>
          <a:prstGeom prst="roundRect">
            <a:avLst>
              <a:gd fmla="val 50000" name="adj"/>
            </a:avLst>
          </a:prstGeom>
          <a:solidFill>
            <a:srgbClr val="EAF2FD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771525" y="52006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pt-BR" sz="127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1257300" y="5162550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 algo pudesse melhorar nessa situação, qual resultado seria mais importante?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1257300" y="5572125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685800" y="5753100"/>
            <a:ext cx="10820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Pergunta específica da equipe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685800" y="5991225"/>
            <a:ext cx="10820400" cy="428625"/>
          </a:xfrm>
          <a:prstGeom prst="roundRect">
            <a:avLst>
              <a:gd fmla="val 17778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800100" y="6076950"/>
            <a:ext cx="105918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pt-BR" sz="115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Conte sobre uma dúvida recente ao estudar com colegas: como tentaram resolvê-la e o que aconteceu depois?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ORIENTAÇÃO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Transformem a entrevista em um mapa de empatia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135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Registrem frases curtas, exemplos e comportamentos observáveis. Diferenciem o que foi dito do que a equipe interpretou.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pt-BR" sz="825" u="none" cap="none" strike="noStrik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685800" y="1924050"/>
            <a:ext cx="2674829" cy="381000"/>
          </a:xfrm>
          <a:prstGeom prst="rect">
            <a:avLst/>
          </a:prstGeom>
          <a:solidFill>
            <a:srgbClr val="15365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781050" y="2000250"/>
            <a:ext cx="248432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do mapa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3360629" y="1924050"/>
            <a:ext cx="5135671" cy="381000"/>
          </a:xfrm>
          <a:prstGeom prst="rect">
            <a:avLst/>
          </a:prstGeom>
          <a:solidFill>
            <a:srgbClr val="15365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3455879" y="2000250"/>
            <a:ext cx="494517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Pergunta de síntese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685800" y="2305050"/>
            <a:ext cx="2674829" cy="5334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781050" y="23812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1050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1 · Com quem empatizamos?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3360629" y="2305050"/>
            <a:ext cx="5135671" cy="53340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3455879" y="23812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Qual perfil geral e situação são relevantes?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685800" y="2838450"/>
            <a:ext cx="2674829" cy="5334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781050" y="29146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1050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2 · O que precisa fazer?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3360629" y="2838450"/>
            <a:ext cx="5135671" cy="53340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3455879" y="29146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 tarefa, objetivo ou decisão precisa realizar?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685800" y="3371850"/>
            <a:ext cx="2674829" cy="5334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781050" y="34480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1050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3 · O que vê?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3360629" y="3371850"/>
            <a:ext cx="5135671" cy="53340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3455879" y="34480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 pessoas, ambientes, informações ou alternativas influenciam?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685800" y="3905250"/>
            <a:ext cx="2674829" cy="5334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781050" y="39814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1050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4 · O que fala?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3360629" y="3905250"/>
            <a:ext cx="5135671" cy="53340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3455879" y="39814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Quais afirmações ou palavras recorrentes apareceram?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685800" y="4438650"/>
            <a:ext cx="2674829" cy="5334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781050" y="45148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1050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5 · O que faz?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3360629" y="4438650"/>
            <a:ext cx="5135671" cy="53340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3455879" y="45148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 comportamentos e estratégias utiliza na prática?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685800" y="4972050"/>
            <a:ext cx="2674829" cy="5334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781050" y="50482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1050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6 · O que escuta?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3360629" y="4972050"/>
            <a:ext cx="5135671" cy="53340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3455879" y="50482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 opiniões, orientações ou pressões recebe?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685800" y="5505450"/>
            <a:ext cx="2674829" cy="51435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781050" y="5581650"/>
            <a:ext cx="248432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1050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7 · O que pensa e sente?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3360629" y="5505450"/>
            <a:ext cx="5135671" cy="5143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3455879" y="5581650"/>
            <a:ext cx="494517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Quais dores, desejos, receios e expectativas emergem?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8858250" y="2076450"/>
            <a:ext cx="2647950" cy="3238500"/>
          </a:xfrm>
          <a:prstGeom prst="roundRect">
            <a:avLst>
              <a:gd fmla="val 4317" name="adj"/>
            </a:avLst>
          </a:prstGeom>
          <a:solidFill>
            <a:srgbClr val="E8F5F3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8858250" y="2076450"/>
            <a:ext cx="66675" cy="3238500"/>
          </a:xfrm>
          <a:prstGeom prst="roundRect">
            <a:avLst>
              <a:gd fmla="val 50000" name="adj"/>
            </a:avLst>
          </a:prstGeom>
          <a:solidFill>
            <a:srgbClr val="138A83"/>
          </a:solidFill>
          <a:ln cap="flat" cmpd="sng" w="9525">
            <a:solidFill>
              <a:srgbClr val="138A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9124950" y="2286000"/>
            <a:ext cx="2152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pt-BR" sz="157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Como usar o template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9124950" y="2705100"/>
            <a:ext cx="2152650" cy="245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1. Dupliquem o próximo slide uma vez por entrevista.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2. Identifiquem apenas a entrevista por código: E1, E2, E3...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3. Preencham os sete campos.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4. Retirem qualquer detalhe que possa identificar a pessoa.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5. Reúnam os mapas para a síntese coletiva.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8858250" y="5429250"/>
            <a:ext cx="2647950" cy="685800"/>
          </a:xfrm>
          <a:prstGeom prst="roundRect">
            <a:avLst>
              <a:gd fmla="val 11111" name="adj"/>
            </a:avLst>
          </a:prstGeom>
          <a:solidFill>
            <a:srgbClr val="FFF4DE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9010650" y="5543550"/>
            <a:ext cx="2343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Não “corrija” a fala do participante para fazê-la caber na ideia da equipe.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MAPA DE EMPATIA · E1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Mapa de empatia — E1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pt-BR" sz="825" u="none" cap="none" strike="noStrik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81125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/>
          <p:nvPr/>
        </p:nvSpPr>
        <p:spPr>
          <a:xfrm>
            <a:off x="2952750" y="152400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4981575" y="15240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pt-BR" sz="810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Computação · 2º sem.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904875" y="2238375"/>
            <a:ext cx="2209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904875" y="2476500"/>
            <a:ext cx="2209800" cy="647700"/>
          </a:xfrm>
          <a:prstGeom prst="roundRect">
            <a:avLst>
              <a:gd fmla="val 11765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1019175" y="2562225"/>
            <a:ext cx="1981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Estudante de Computação no 2º semestre. Costuma resolver listas de exercícios com colegas.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3810000" y="2238375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3810000" y="2476500"/>
            <a:ext cx="2800350" cy="552450"/>
          </a:xfrm>
          <a:prstGeom prst="roundRect">
            <a:avLst>
              <a:gd fmla="val 13793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3924300" y="2562225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Resolver exercícios em grupo e recuperar dicas importantes durante a revisão para provas.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5162550" y="2967038"/>
            <a:ext cx="14478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5162550" y="3336213"/>
            <a:ext cx="1447800" cy="457200"/>
          </a:xfrm>
          <a:prstGeom prst="roundRect">
            <a:avLst>
              <a:gd fmla="val 16667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5276850" y="3412413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82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Listas de cálculo em folhas soltas.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5162550" y="3952875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5143500" y="4268438"/>
            <a:ext cx="1447800" cy="457200"/>
          </a:xfrm>
          <a:prstGeom prst="roundRect">
            <a:avLst>
              <a:gd fmla="val 16667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5276850" y="4286238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82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Dicas surgem na prática e depois se perdem</a:t>
            </a:r>
            <a:r>
              <a:rPr lang="pt-BR" sz="82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 quando necessárias.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3048000" y="5038725"/>
            <a:ext cx="21621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3048000" y="5276850"/>
            <a:ext cx="2162175" cy="495300"/>
          </a:xfrm>
          <a:prstGeom prst="roundRect">
            <a:avLst>
              <a:gd fmla="val 15385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3162300" y="5362575"/>
            <a:ext cx="1933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88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Resolve exercícios com amigos na biblioteca.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885825" y="3686175"/>
            <a:ext cx="18002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885825" y="3924300"/>
            <a:ext cx="1800225" cy="590550"/>
          </a:xfrm>
          <a:prstGeom prst="roundRect">
            <a:avLst>
              <a:gd fmla="val 12903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1000125" y="4010025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Ouve que colegas acertam exercícios, mas depois esquecem como refazê-los.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3000375" y="3476625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3000375" y="3714750"/>
            <a:ext cx="1714500" cy="647700"/>
          </a:xfrm>
          <a:prstGeom prst="roundRect">
            <a:avLst>
              <a:gd fmla="val 11765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3114675" y="3800475"/>
            <a:ext cx="1485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Sente frustração: dicas perdidas poderiam ajudar nas provas.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8001000" y="1619250"/>
            <a:ext cx="3505200" cy="2571750"/>
          </a:xfrm>
          <a:prstGeom prst="roundRect">
            <a:avLst>
              <a:gd fmla="val 4444" name="adj"/>
            </a:avLst>
          </a:prstGeom>
          <a:solidFill>
            <a:srgbClr val="FFF4DE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8001000" y="1619250"/>
            <a:ext cx="66675" cy="2571750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8267700" y="1828800"/>
            <a:ext cx="3009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pt-BR" sz="157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Identificação permitida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8267700" y="2247900"/>
            <a:ext cx="30099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código da entrevista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perfil geral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situação relevante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data da entrevista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t/>
            </a:r>
            <a:endParaRPr b="0" i="0" sz="1275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registrem nome, contato, imagem, voz, local exato ou condição individual identificável.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8001000" y="4533900"/>
            <a:ext cx="350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Insight principal desta entrevista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8001000" y="4772025"/>
            <a:ext cx="3505200" cy="819150"/>
          </a:xfrm>
          <a:prstGeom prst="roundRect">
            <a:avLst>
              <a:gd fmla="val 9302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7647450" y="4857675"/>
            <a:ext cx="4250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6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A dificuldade não está apenas em resolver exercícios, mas em preservar e recuperar o raciocínio desenvolvido durante o estudo em grupo.</a:t>
            </a:r>
            <a:endParaRPr sz="1060">
              <a:solidFill>
                <a:srgbClr val="2333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060">
              <a:solidFill>
                <a:srgbClr val="2333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8096250" y="5972175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90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Campos: paráfrases. 'Precisa fazer' e insight: interpretações da equipe.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6675120" y="1472184"/>
            <a:ext cx="50292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70" u="none" cap="none" strike="noStrike">
                <a:solidFill>
                  <a:srgbClr val="174A90"/>
                </a:solidFill>
                <a:latin typeface="Calibri"/>
                <a:ea typeface="Calibri"/>
                <a:cs typeface="Calibri"/>
                <a:sym typeface="Calibri"/>
              </a:rPr>
              <a:t>06/10/2026</a:t>
            </a:r>
            <a:endParaRPr/>
          </a:p>
        </p:txBody>
      </p:sp>
      <p:sp>
        <p:nvSpPr>
          <p:cNvPr id="198" name="Google Shape;198;p15"/>
          <p:cNvSpPr/>
          <p:nvPr/>
        </p:nvSpPr>
        <p:spPr>
          <a:xfrm>
            <a:off x="6574536" y="1632204"/>
            <a:ext cx="566928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60" u="none" cap="none" strike="noStrike">
                <a:solidFill>
                  <a:srgbClr val="174A90"/>
                </a:solidFill>
                <a:latin typeface="Calibri"/>
                <a:ea typeface="Calibri"/>
                <a:cs typeface="Calibri"/>
                <a:sym typeface="Calibri"/>
              </a:rPr>
              <a:t>Cauê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MAPA DE EMPATIA · E2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Mapa de empatia — E2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pt-BR" sz="825" u="none" cap="none" strike="noStrik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81125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"/>
          <p:cNvSpPr/>
          <p:nvPr/>
        </p:nvSpPr>
        <p:spPr>
          <a:xfrm>
            <a:off x="2952750" y="152400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"/>
          <p:cNvSpPr/>
          <p:nvPr/>
        </p:nvSpPr>
        <p:spPr>
          <a:xfrm>
            <a:off x="4981575" y="15240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pt-BR" sz="810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Computação · 2º sem.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"/>
          <p:cNvSpPr/>
          <p:nvPr/>
        </p:nvSpPr>
        <p:spPr>
          <a:xfrm>
            <a:off x="904875" y="2238375"/>
            <a:ext cx="2209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904875" y="2476500"/>
            <a:ext cx="2209800" cy="647700"/>
          </a:xfrm>
          <a:prstGeom prst="roundRect">
            <a:avLst>
              <a:gd fmla="val 11765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"/>
          <p:cNvSpPr/>
          <p:nvPr/>
        </p:nvSpPr>
        <p:spPr>
          <a:xfrm>
            <a:off x="1019175" y="2562225"/>
            <a:ext cx="1981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pt-BR" sz="88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Estudante de Computação no 2º sem. Faz resumos </a:t>
            </a:r>
            <a:r>
              <a:rPr lang="pt-BR" sz="88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para compartilhar com </a:t>
            </a:r>
            <a:r>
              <a:rPr lang="pt-BR" sz="88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os colegas</a:t>
            </a:r>
            <a:r>
              <a:rPr b="0" i="0" lang="pt-BR" sz="88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"/>
          <p:cNvSpPr/>
          <p:nvPr/>
        </p:nvSpPr>
        <p:spPr>
          <a:xfrm>
            <a:off x="3810000" y="2238375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"/>
          <p:cNvSpPr/>
          <p:nvPr/>
        </p:nvSpPr>
        <p:spPr>
          <a:xfrm>
            <a:off x="3810000" y="2476500"/>
            <a:ext cx="2800350" cy="552450"/>
          </a:xfrm>
          <a:prstGeom prst="roundRect">
            <a:avLst>
              <a:gd fmla="val 13793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"/>
          <p:cNvSpPr/>
          <p:nvPr/>
        </p:nvSpPr>
        <p:spPr>
          <a:xfrm>
            <a:off x="3924300" y="2562225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Criar explicações claras utilizando textos, cálculos, imagens e vídeos.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"/>
          <p:cNvSpPr/>
          <p:nvPr/>
        </p:nvSpPr>
        <p:spPr>
          <a:xfrm>
            <a:off x="5162550" y="304800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"/>
          <p:cNvSpPr/>
          <p:nvPr/>
        </p:nvSpPr>
        <p:spPr>
          <a:xfrm>
            <a:off x="5162550" y="3376613"/>
            <a:ext cx="1447800" cy="457200"/>
          </a:xfrm>
          <a:prstGeom prst="roundRect">
            <a:avLst>
              <a:gd fmla="val 16667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"/>
          <p:cNvSpPr/>
          <p:nvPr/>
        </p:nvSpPr>
        <p:spPr>
          <a:xfrm>
            <a:off x="5276850" y="34528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82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Usa Google Docs.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"/>
          <p:cNvSpPr/>
          <p:nvPr/>
        </p:nvSpPr>
        <p:spPr>
          <a:xfrm>
            <a:off x="5162550" y="3952875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"/>
          <p:cNvSpPr/>
          <p:nvPr/>
        </p:nvSpPr>
        <p:spPr>
          <a:xfrm>
            <a:off x="5143500" y="4288625"/>
            <a:ext cx="1571700" cy="457200"/>
          </a:xfrm>
          <a:prstGeom prst="roundRect">
            <a:avLst>
              <a:gd fmla="val 16667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"/>
          <p:cNvSpPr/>
          <p:nvPr/>
        </p:nvSpPr>
        <p:spPr>
          <a:xfrm>
            <a:off x="5210175" y="4305300"/>
            <a:ext cx="14859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Organizar diferentes formatos de conteúdo em um único docs </a:t>
            </a:r>
            <a:r>
              <a:rPr lang="pt-BR" sz="82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exige muito esforço</a:t>
            </a:r>
            <a:r>
              <a:rPr lang="pt-BR" sz="82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"/>
          <p:cNvSpPr/>
          <p:nvPr/>
        </p:nvSpPr>
        <p:spPr>
          <a:xfrm>
            <a:off x="3048000" y="5038725"/>
            <a:ext cx="21621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"/>
          <p:cNvSpPr/>
          <p:nvPr/>
        </p:nvSpPr>
        <p:spPr>
          <a:xfrm>
            <a:off x="3048000" y="5276850"/>
            <a:ext cx="2162175" cy="495300"/>
          </a:xfrm>
          <a:prstGeom prst="roundRect">
            <a:avLst>
              <a:gd fmla="val 15385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"/>
          <p:cNvSpPr/>
          <p:nvPr/>
        </p:nvSpPr>
        <p:spPr>
          <a:xfrm>
            <a:off x="3162300" y="5362575"/>
            <a:ext cx="1933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8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Produz resumos, organiza explicações e compartilha materiais com colegas.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"/>
          <p:cNvSpPr/>
          <p:nvPr/>
        </p:nvSpPr>
        <p:spPr>
          <a:xfrm>
            <a:off x="885825" y="3686175"/>
            <a:ext cx="18002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"/>
          <p:cNvSpPr/>
          <p:nvPr/>
        </p:nvSpPr>
        <p:spPr>
          <a:xfrm>
            <a:off x="885825" y="3924300"/>
            <a:ext cx="1800225" cy="590550"/>
          </a:xfrm>
          <a:prstGeom prst="roundRect">
            <a:avLst>
              <a:gd fmla="val 12903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"/>
          <p:cNvSpPr/>
          <p:nvPr/>
        </p:nvSpPr>
        <p:spPr>
          <a:xfrm>
            <a:off x="1000125" y="4010025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82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Ouve que os resumos são bons, mas às vezes maçantes.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"/>
          <p:cNvSpPr/>
          <p:nvPr/>
        </p:nvSpPr>
        <p:spPr>
          <a:xfrm>
            <a:off x="3000375" y="3476625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"/>
          <p:cNvSpPr/>
          <p:nvPr/>
        </p:nvSpPr>
        <p:spPr>
          <a:xfrm>
            <a:off x="3000375" y="3714750"/>
            <a:ext cx="1714500" cy="647700"/>
          </a:xfrm>
          <a:prstGeom prst="roundRect">
            <a:avLst>
              <a:gd fmla="val 11765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"/>
          <p:cNvSpPr/>
          <p:nvPr/>
        </p:nvSpPr>
        <p:spPr>
          <a:xfrm>
            <a:off x="3114675" y="3800475"/>
            <a:ext cx="1639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Cansaço pelo tempo de preparação e desejo de produzir explicações mais claras.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"/>
          <p:cNvSpPr/>
          <p:nvPr/>
        </p:nvSpPr>
        <p:spPr>
          <a:xfrm>
            <a:off x="8001000" y="1619250"/>
            <a:ext cx="3505200" cy="2571750"/>
          </a:xfrm>
          <a:prstGeom prst="roundRect">
            <a:avLst>
              <a:gd fmla="val 4444" name="adj"/>
            </a:avLst>
          </a:prstGeom>
          <a:solidFill>
            <a:srgbClr val="FFF4DE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"/>
          <p:cNvSpPr/>
          <p:nvPr/>
        </p:nvSpPr>
        <p:spPr>
          <a:xfrm>
            <a:off x="8001000" y="1619250"/>
            <a:ext cx="66675" cy="2571750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"/>
          <p:cNvSpPr/>
          <p:nvPr/>
        </p:nvSpPr>
        <p:spPr>
          <a:xfrm>
            <a:off x="8267700" y="1828800"/>
            <a:ext cx="3009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pt-BR" sz="157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Identificação permitida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"/>
          <p:cNvSpPr/>
          <p:nvPr/>
        </p:nvSpPr>
        <p:spPr>
          <a:xfrm>
            <a:off x="8267700" y="2247900"/>
            <a:ext cx="30099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código da entrevista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perfil geral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situação relevante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data da entrevista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t/>
            </a:r>
            <a:endParaRPr b="0" i="0" sz="1275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registrem nome, contato, imagem, voz, local exato ou condição individual identificável.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"/>
          <p:cNvSpPr/>
          <p:nvPr/>
        </p:nvSpPr>
        <p:spPr>
          <a:xfrm>
            <a:off x="8001000" y="4533900"/>
            <a:ext cx="350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Insight principal desta entrevista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"/>
          <p:cNvSpPr/>
          <p:nvPr/>
        </p:nvSpPr>
        <p:spPr>
          <a:xfrm>
            <a:off x="8001000" y="4772025"/>
            <a:ext cx="3505200" cy="819150"/>
          </a:xfrm>
          <a:prstGeom prst="roundRect">
            <a:avLst>
              <a:gd fmla="val 9302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"/>
          <p:cNvSpPr/>
          <p:nvPr/>
        </p:nvSpPr>
        <p:spPr>
          <a:xfrm>
            <a:off x="7967100" y="4803725"/>
            <a:ext cx="36111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6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Produzir materiais explicativos que integram diferentes formatos pode exigir tempo e esforço significativos, dificultando o compartilhamento de conhecimento.</a:t>
            </a:r>
            <a:endParaRPr sz="1060">
              <a:solidFill>
                <a:srgbClr val="2333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060">
              <a:solidFill>
                <a:srgbClr val="2333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"/>
          <p:cNvSpPr/>
          <p:nvPr/>
        </p:nvSpPr>
        <p:spPr>
          <a:xfrm>
            <a:off x="8096250" y="5972175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90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Campos: paráfrases. 'Precisa fazer' e insight: interpretações da equipe.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"/>
          <p:cNvSpPr/>
          <p:nvPr/>
        </p:nvSpPr>
        <p:spPr>
          <a:xfrm>
            <a:off x="6675120" y="1472184"/>
            <a:ext cx="50292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70" u="none" cap="none" strike="noStrike">
                <a:solidFill>
                  <a:srgbClr val="174A90"/>
                </a:solidFill>
                <a:latin typeface="Calibri"/>
                <a:ea typeface="Calibri"/>
                <a:cs typeface="Calibri"/>
                <a:sym typeface="Calibri"/>
              </a:rPr>
              <a:t>06/10/2026</a:t>
            </a:r>
            <a:endParaRPr/>
          </a:p>
        </p:txBody>
      </p:sp>
      <p:sp>
        <p:nvSpPr>
          <p:cNvPr id="242" name="Google Shape;242;p1"/>
          <p:cNvSpPr/>
          <p:nvPr/>
        </p:nvSpPr>
        <p:spPr>
          <a:xfrm>
            <a:off x="6574536" y="1632204"/>
            <a:ext cx="566928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60" u="none" cap="none" strike="noStrike">
                <a:solidFill>
                  <a:srgbClr val="174A90"/>
                </a:solidFill>
                <a:latin typeface="Calibri"/>
                <a:ea typeface="Calibri"/>
                <a:cs typeface="Calibri"/>
                <a:sym typeface="Calibri"/>
              </a:rPr>
              <a:t>Enzo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MAPA DE EMPATIA · E3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Mapa de empatia — E3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pt-BR" sz="825" u="none" cap="none" strike="noStrik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81125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"/>
          <p:cNvSpPr/>
          <p:nvPr/>
        </p:nvSpPr>
        <p:spPr>
          <a:xfrm>
            <a:off x="2952750" y="152400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"/>
          <p:cNvSpPr/>
          <p:nvPr/>
        </p:nvSpPr>
        <p:spPr>
          <a:xfrm>
            <a:off x="4981575" y="15240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pt-BR" sz="810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Estatística · 2º sem.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"/>
          <p:cNvSpPr/>
          <p:nvPr/>
        </p:nvSpPr>
        <p:spPr>
          <a:xfrm>
            <a:off x="904875" y="2238375"/>
            <a:ext cx="2209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"/>
          <p:cNvSpPr/>
          <p:nvPr/>
        </p:nvSpPr>
        <p:spPr>
          <a:xfrm>
            <a:off x="904875" y="2476500"/>
            <a:ext cx="2209800" cy="647700"/>
          </a:xfrm>
          <a:prstGeom prst="roundRect">
            <a:avLst>
              <a:gd fmla="val 11765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"/>
          <p:cNvSpPr/>
          <p:nvPr/>
        </p:nvSpPr>
        <p:spPr>
          <a:xfrm>
            <a:off x="1019175" y="2562225"/>
            <a:ext cx="1981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pt-BR" sz="88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Estudante de Estatística no 2º sem. Alterna estudo individual e em grupo.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"/>
          <p:cNvSpPr/>
          <p:nvPr/>
        </p:nvSpPr>
        <p:spPr>
          <a:xfrm>
            <a:off x="3810000" y="2238375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"/>
          <p:cNvSpPr/>
          <p:nvPr/>
        </p:nvSpPr>
        <p:spPr>
          <a:xfrm>
            <a:off x="3810000" y="2476500"/>
            <a:ext cx="2800350" cy="552450"/>
          </a:xfrm>
          <a:prstGeom prst="roundRect">
            <a:avLst>
              <a:gd fmla="val 13793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"/>
          <p:cNvSpPr/>
          <p:nvPr/>
        </p:nvSpPr>
        <p:spPr>
          <a:xfrm>
            <a:off x="3924300" y="2562225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Compreender a relação entre as disciplinas e suas aplicações profissionais.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"/>
          <p:cNvSpPr/>
          <p:nvPr/>
        </p:nvSpPr>
        <p:spPr>
          <a:xfrm>
            <a:off x="5162550" y="304800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"/>
          <p:cNvSpPr/>
          <p:nvPr/>
        </p:nvSpPr>
        <p:spPr>
          <a:xfrm>
            <a:off x="5162550" y="3348038"/>
            <a:ext cx="1447800" cy="457200"/>
          </a:xfrm>
          <a:prstGeom prst="roundRect">
            <a:avLst>
              <a:gd fmla="val 16667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"/>
          <p:cNvSpPr/>
          <p:nvPr/>
        </p:nvSpPr>
        <p:spPr>
          <a:xfrm>
            <a:off x="5233950" y="3348038"/>
            <a:ext cx="157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Conteúdos e disciplinas apresentados sem conexões práticas evidentes.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"/>
          <p:cNvSpPr/>
          <p:nvPr/>
        </p:nvSpPr>
        <p:spPr>
          <a:xfrm>
            <a:off x="5162550" y="3952875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"/>
          <p:cNvSpPr/>
          <p:nvPr/>
        </p:nvSpPr>
        <p:spPr>
          <a:xfrm>
            <a:off x="5143500" y="4262425"/>
            <a:ext cx="1447800" cy="457200"/>
          </a:xfrm>
          <a:prstGeom prst="roundRect">
            <a:avLst>
              <a:gd fmla="val 16667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"/>
          <p:cNvSpPr/>
          <p:nvPr/>
        </p:nvSpPr>
        <p:spPr>
          <a:xfrm>
            <a:off x="5276850" y="4310038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82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Falta visão geral do semestre e da utilidade.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"/>
          <p:cNvSpPr/>
          <p:nvPr/>
        </p:nvSpPr>
        <p:spPr>
          <a:xfrm>
            <a:off x="3048000" y="5038725"/>
            <a:ext cx="21621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"/>
          <p:cNvSpPr/>
          <p:nvPr/>
        </p:nvSpPr>
        <p:spPr>
          <a:xfrm>
            <a:off x="3048000" y="5276850"/>
            <a:ext cx="2162175" cy="495300"/>
          </a:xfrm>
          <a:prstGeom prst="roundRect">
            <a:avLst>
              <a:gd fmla="val 15385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"/>
          <p:cNvSpPr/>
          <p:nvPr/>
        </p:nvSpPr>
        <p:spPr>
          <a:xfrm>
            <a:off x="3162300" y="5362575"/>
            <a:ext cx="1933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88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Consulta veteranos sobre as matérias.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"/>
          <p:cNvSpPr/>
          <p:nvPr/>
        </p:nvSpPr>
        <p:spPr>
          <a:xfrm>
            <a:off x="885825" y="3686175"/>
            <a:ext cx="18002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"/>
          <p:cNvSpPr/>
          <p:nvPr/>
        </p:nvSpPr>
        <p:spPr>
          <a:xfrm>
            <a:off x="885825" y="3924300"/>
            <a:ext cx="1800225" cy="590550"/>
          </a:xfrm>
          <a:prstGeom prst="roundRect">
            <a:avLst>
              <a:gd fmla="val 12903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"/>
          <p:cNvSpPr/>
          <p:nvPr/>
        </p:nvSpPr>
        <p:spPr>
          <a:xfrm>
            <a:off x="1000125" y="4010025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82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Ouve que a carga inicial de disciplinas é pesada.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"/>
          <p:cNvSpPr/>
          <p:nvPr/>
        </p:nvSpPr>
        <p:spPr>
          <a:xfrm>
            <a:off x="3000375" y="3476625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"/>
          <p:cNvSpPr/>
          <p:nvPr/>
        </p:nvSpPr>
        <p:spPr>
          <a:xfrm>
            <a:off x="3000375" y="3714750"/>
            <a:ext cx="1714500" cy="647700"/>
          </a:xfrm>
          <a:prstGeom prst="roundRect">
            <a:avLst>
              <a:gd fmla="val 11765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"/>
          <p:cNvSpPr/>
          <p:nvPr/>
        </p:nvSpPr>
        <p:spPr>
          <a:xfrm>
            <a:off x="3114675" y="3800475"/>
            <a:ext cx="1485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Insegurança sobre a relevância dos conteúdos e desejo de compreender suas aplicações.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"/>
          <p:cNvSpPr/>
          <p:nvPr/>
        </p:nvSpPr>
        <p:spPr>
          <a:xfrm>
            <a:off x="8001000" y="1619250"/>
            <a:ext cx="3505200" cy="2571750"/>
          </a:xfrm>
          <a:prstGeom prst="roundRect">
            <a:avLst>
              <a:gd fmla="val 4444" name="adj"/>
            </a:avLst>
          </a:prstGeom>
          <a:solidFill>
            <a:srgbClr val="FFF4DE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"/>
          <p:cNvSpPr/>
          <p:nvPr/>
        </p:nvSpPr>
        <p:spPr>
          <a:xfrm>
            <a:off x="8001000" y="1619250"/>
            <a:ext cx="66675" cy="2571750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"/>
          <p:cNvSpPr/>
          <p:nvPr/>
        </p:nvSpPr>
        <p:spPr>
          <a:xfrm>
            <a:off x="8267700" y="1828800"/>
            <a:ext cx="3009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pt-BR" sz="157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Identificação permitida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"/>
          <p:cNvSpPr/>
          <p:nvPr/>
        </p:nvSpPr>
        <p:spPr>
          <a:xfrm>
            <a:off x="8267700" y="2247900"/>
            <a:ext cx="30099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código da entrevista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perfil geral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situação relevante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data da entrevista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t/>
            </a:r>
            <a:endParaRPr b="0" i="0" sz="1275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registrem nome, contato, imagem, voz, local exato ou condição individual identificável.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"/>
          <p:cNvSpPr/>
          <p:nvPr/>
        </p:nvSpPr>
        <p:spPr>
          <a:xfrm>
            <a:off x="8001000" y="4533900"/>
            <a:ext cx="350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Insight principal desta entrevista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"/>
          <p:cNvSpPr/>
          <p:nvPr/>
        </p:nvSpPr>
        <p:spPr>
          <a:xfrm>
            <a:off x="8001000" y="4772025"/>
            <a:ext cx="3505200" cy="819150"/>
          </a:xfrm>
          <a:prstGeom prst="roundRect">
            <a:avLst>
              <a:gd fmla="val 9302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"/>
          <p:cNvSpPr/>
          <p:nvPr/>
        </p:nvSpPr>
        <p:spPr>
          <a:xfrm>
            <a:off x="8115300" y="4857750"/>
            <a:ext cx="32766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9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A falta de contexto sobre a aplicação das disciplinas estimula a busca por orientações de estudantes mais experientes, cujo conhecimento nem sempre está organizado ou acessível.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"/>
          <p:cNvSpPr/>
          <p:nvPr/>
        </p:nvSpPr>
        <p:spPr>
          <a:xfrm>
            <a:off x="8096250" y="5972175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90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Campos: paráfrases. 'Precisa fazer' e insight: interpretações da equipe.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"/>
          <p:cNvSpPr/>
          <p:nvPr/>
        </p:nvSpPr>
        <p:spPr>
          <a:xfrm>
            <a:off x="6675120" y="1472184"/>
            <a:ext cx="50292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70" u="none" cap="none" strike="noStrike">
                <a:solidFill>
                  <a:srgbClr val="174A90"/>
                </a:solidFill>
                <a:latin typeface="Calibri"/>
                <a:ea typeface="Calibri"/>
                <a:cs typeface="Calibri"/>
                <a:sym typeface="Calibri"/>
              </a:rPr>
              <a:t>06/10/2026</a:t>
            </a:r>
            <a:endParaRPr/>
          </a:p>
        </p:txBody>
      </p:sp>
      <p:sp>
        <p:nvSpPr>
          <p:cNvPr id="286" name="Google Shape;286;p2"/>
          <p:cNvSpPr/>
          <p:nvPr/>
        </p:nvSpPr>
        <p:spPr>
          <a:xfrm>
            <a:off x="6574536" y="1632204"/>
            <a:ext cx="566928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60" u="none" cap="none" strike="noStrike">
                <a:solidFill>
                  <a:srgbClr val="174A90"/>
                </a:solidFill>
                <a:latin typeface="Calibri"/>
                <a:ea typeface="Calibri"/>
                <a:cs typeface="Calibri"/>
                <a:sym typeface="Calibri"/>
              </a:rPr>
              <a:t>Letícia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MAPA DE EMPATIA · E4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Mapa de empatia — E4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pt-BR" sz="825" u="none" cap="none" strike="noStrik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81125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"/>
          <p:cNvSpPr/>
          <p:nvPr/>
        </p:nvSpPr>
        <p:spPr>
          <a:xfrm>
            <a:off x="2952750" y="152400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"/>
          <p:cNvSpPr/>
          <p:nvPr/>
        </p:nvSpPr>
        <p:spPr>
          <a:xfrm>
            <a:off x="4981575" y="15240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pt-BR" sz="810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SI noturno · 4º sem.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"/>
          <p:cNvSpPr/>
          <p:nvPr/>
        </p:nvSpPr>
        <p:spPr>
          <a:xfrm>
            <a:off x="904875" y="2238375"/>
            <a:ext cx="2209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"/>
          <p:cNvSpPr/>
          <p:nvPr/>
        </p:nvSpPr>
        <p:spPr>
          <a:xfrm>
            <a:off x="904875" y="2476500"/>
            <a:ext cx="2209800" cy="647700"/>
          </a:xfrm>
          <a:prstGeom prst="roundRect">
            <a:avLst>
              <a:gd fmla="val 11765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"/>
          <p:cNvSpPr/>
          <p:nvPr/>
        </p:nvSpPr>
        <p:spPr>
          <a:xfrm>
            <a:off x="1019175" y="2562225"/>
            <a:ext cx="1981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Estudante do 4º semestre de SI noturno. Concilia trabalho e faculdade.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"/>
          <p:cNvSpPr/>
          <p:nvPr/>
        </p:nvSpPr>
        <p:spPr>
          <a:xfrm>
            <a:off x="3810000" y="2238375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"/>
          <p:cNvSpPr/>
          <p:nvPr/>
        </p:nvSpPr>
        <p:spPr>
          <a:xfrm>
            <a:off x="3810000" y="2476500"/>
            <a:ext cx="2800350" cy="552450"/>
          </a:xfrm>
          <a:prstGeom prst="roundRect">
            <a:avLst>
              <a:gd fmla="val 13793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"/>
          <p:cNvSpPr/>
          <p:nvPr/>
        </p:nvSpPr>
        <p:spPr>
          <a:xfrm>
            <a:off x="3924300" y="2562225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Revisar conteúdos em intervalos curtos de 30 a 60 minutos.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"/>
          <p:cNvSpPr/>
          <p:nvPr/>
        </p:nvSpPr>
        <p:spPr>
          <a:xfrm>
            <a:off x="5162550" y="304800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"/>
          <p:cNvSpPr/>
          <p:nvPr/>
        </p:nvSpPr>
        <p:spPr>
          <a:xfrm>
            <a:off x="5162550" y="3376625"/>
            <a:ext cx="1571700" cy="457200"/>
          </a:xfrm>
          <a:prstGeom prst="roundRect">
            <a:avLst>
              <a:gd fmla="val 16667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"/>
          <p:cNvSpPr/>
          <p:nvPr/>
        </p:nvSpPr>
        <p:spPr>
          <a:xfrm>
            <a:off x="5145750" y="3410025"/>
            <a:ext cx="1748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Materiais e exercícios distribuídos entre diferentes pastas e arquivos.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"/>
          <p:cNvSpPr/>
          <p:nvPr/>
        </p:nvSpPr>
        <p:spPr>
          <a:xfrm>
            <a:off x="5162550" y="3952875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"/>
          <p:cNvSpPr/>
          <p:nvPr/>
        </p:nvSpPr>
        <p:spPr>
          <a:xfrm>
            <a:off x="5143500" y="4262450"/>
            <a:ext cx="1531500" cy="457200"/>
          </a:xfrm>
          <a:prstGeom prst="roundRect">
            <a:avLst>
              <a:gd fmla="val 16667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"/>
          <p:cNvSpPr/>
          <p:nvPr/>
        </p:nvSpPr>
        <p:spPr>
          <a:xfrm>
            <a:off x="5143500" y="4292125"/>
            <a:ext cx="16872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A busca por materiais consome parte do pouco tempo disponível para estudar.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"/>
          <p:cNvSpPr/>
          <p:nvPr/>
        </p:nvSpPr>
        <p:spPr>
          <a:xfrm>
            <a:off x="3048000" y="5038725"/>
            <a:ext cx="21621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"/>
          <p:cNvSpPr/>
          <p:nvPr/>
        </p:nvSpPr>
        <p:spPr>
          <a:xfrm>
            <a:off x="3048000" y="5276850"/>
            <a:ext cx="2162175" cy="495300"/>
          </a:xfrm>
          <a:prstGeom prst="roundRect">
            <a:avLst>
              <a:gd fmla="val 15385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"/>
          <p:cNvSpPr/>
          <p:nvPr/>
        </p:nvSpPr>
        <p:spPr>
          <a:xfrm>
            <a:off x="3162300" y="5362575"/>
            <a:ext cx="1933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88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Estudava sozinho entre trabalho e aulas.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"/>
          <p:cNvSpPr/>
          <p:nvPr/>
        </p:nvSpPr>
        <p:spPr>
          <a:xfrm>
            <a:off x="885825" y="3686175"/>
            <a:ext cx="18002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"/>
          <p:cNvSpPr/>
          <p:nvPr/>
        </p:nvSpPr>
        <p:spPr>
          <a:xfrm>
            <a:off x="885825" y="3924300"/>
            <a:ext cx="1800225" cy="590550"/>
          </a:xfrm>
          <a:prstGeom prst="roundRect">
            <a:avLst>
              <a:gd fmla="val 12903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"/>
          <p:cNvSpPr/>
          <p:nvPr/>
        </p:nvSpPr>
        <p:spPr>
          <a:xfrm>
            <a:off x="1000125" y="4010025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Colegas recomendam vídeos e resumos para complementar o estudo.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"/>
          <p:cNvSpPr/>
          <p:nvPr/>
        </p:nvSpPr>
        <p:spPr>
          <a:xfrm>
            <a:off x="3000375" y="3476625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"/>
          <p:cNvSpPr/>
          <p:nvPr/>
        </p:nvSpPr>
        <p:spPr>
          <a:xfrm>
            <a:off x="3000375" y="3714750"/>
            <a:ext cx="1714500" cy="647700"/>
          </a:xfrm>
          <a:prstGeom prst="roundRect">
            <a:avLst>
              <a:gd fmla="val 11765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"/>
          <p:cNvSpPr/>
          <p:nvPr/>
        </p:nvSpPr>
        <p:spPr>
          <a:xfrm>
            <a:off x="3115800" y="3786188"/>
            <a:ext cx="1485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Cansaço e frustração ao procurar informações, com desejo de aproveitar melhor o tempo.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"/>
          <p:cNvSpPr/>
          <p:nvPr/>
        </p:nvSpPr>
        <p:spPr>
          <a:xfrm>
            <a:off x="8001000" y="1619250"/>
            <a:ext cx="3505200" cy="2571750"/>
          </a:xfrm>
          <a:prstGeom prst="roundRect">
            <a:avLst>
              <a:gd fmla="val 4444" name="adj"/>
            </a:avLst>
          </a:prstGeom>
          <a:solidFill>
            <a:srgbClr val="FFF4DE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"/>
          <p:cNvSpPr/>
          <p:nvPr/>
        </p:nvSpPr>
        <p:spPr>
          <a:xfrm>
            <a:off x="8001000" y="1619250"/>
            <a:ext cx="66675" cy="2571750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"/>
          <p:cNvSpPr/>
          <p:nvPr/>
        </p:nvSpPr>
        <p:spPr>
          <a:xfrm>
            <a:off x="8267700" y="1828800"/>
            <a:ext cx="3009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pt-BR" sz="157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Identificação permitida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"/>
          <p:cNvSpPr/>
          <p:nvPr/>
        </p:nvSpPr>
        <p:spPr>
          <a:xfrm>
            <a:off x="8267700" y="2247900"/>
            <a:ext cx="30099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código da entrevista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perfil geral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situação relevante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data da entrevista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t/>
            </a:r>
            <a:endParaRPr b="0" i="0" sz="1275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registrem nome, contato, imagem, voz, local exato ou condição individual identificável.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"/>
          <p:cNvSpPr/>
          <p:nvPr/>
        </p:nvSpPr>
        <p:spPr>
          <a:xfrm>
            <a:off x="8001000" y="4533900"/>
            <a:ext cx="350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Insight principal desta entrevista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"/>
          <p:cNvSpPr/>
          <p:nvPr/>
        </p:nvSpPr>
        <p:spPr>
          <a:xfrm>
            <a:off x="8001000" y="4772025"/>
            <a:ext cx="3505200" cy="819150"/>
          </a:xfrm>
          <a:prstGeom prst="roundRect">
            <a:avLst>
              <a:gd fmla="val 9302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"/>
          <p:cNvSpPr/>
          <p:nvPr/>
        </p:nvSpPr>
        <p:spPr>
          <a:xfrm>
            <a:off x="8115300" y="4857750"/>
            <a:ext cx="32766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06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Para estudantes com tempo limitado, a dificuldade de localizar materiais pode comprometer a continuidade e a eficiência das sessões de estudo.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"/>
          <p:cNvSpPr/>
          <p:nvPr/>
        </p:nvSpPr>
        <p:spPr>
          <a:xfrm>
            <a:off x="8096250" y="5972175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90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Campos: paráfrases. 'Precisa fazer' e insight: interpretações da equipe.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"/>
          <p:cNvSpPr/>
          <p:nvPr/>
        </p:nvSpPr>
        <p:spPr>
          <a:xfrm>
            <a:off x="6675120" y="1472184"/>
            <a:ext cx="50292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70" u="none" cap="none" strike="noStrike">
                <a:solidFill>
                  <a:srgbClr val="174A90"/>
                </a:solidFill>
                <a:latin typeface="Calibri"/>
                <a:ea typeface="Calibri"/>
                <a:cs typeface="Calibri"/>
                <a:sym typeface="Calibri"/>
              </a:rPr>
              <a:t>07/10/2026</a:t>
            </a:r>
            <a:endParaRPr/>
          </a:p>
        </p:txBody>
      </p:sp>
      <p:sp>
        <p:nvSpPr>
          <p:cNvPr id="330" name="Google Shape;330;p3"/>
          <p:cNvSpPr/>
          <p:nvPr/>
        </p:nvSpPr>
        <p:spPr>
          <a:xfrm>
            <a:off x="6574536" y="1632204"/>
            <a:ext cx="566928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60" u="none" cap="none" strike="noStrike">
                <a:solidFill>
                  <a:srgbClr val="174A90"/>
                </a:solidFill>
                <a:latin typeface="Calibri"/>
                <a:ea typeface="Calibri"/>
                <a:cs typeface="Calibri"/>
                <a:sym typeface="Calibri"/>
              </a:rPr>
              <a:t>Lázaro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MAPA DE EMPATIA · E5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Mapa de empatia — E5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pt-BR" sz="825" u="none" cap="none" strike="noStrik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81125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"/>
          <p:cNvSpPr/>
          <p:nvPr/>
        </p:nvSpPr>
        <p:spPr>
          <a:xfrm>
            <a:off x="2952750" y="152400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"/>
          <p:cNvSpPr/>
          <p:nvPr/>
        </p:nvSpPr>
        <p:spPr>
          <a:xfrm>
            <a:off x="4981575" y="15240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pt-BR" sz="810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Eng. Comp. · 2º sem.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"/>
          <p:cNvSpPr/>
          <p:nvPr/>
        </p:nvSpPr>
        <p:spPr>
          <a:xfrm>
            <a:off x="904875" y="2238375"/>
            <a:ext cx="2209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"/>
          <p:cNvSpPr/>
          <p:nvPr/>
        </p:nvSpPr>
        <p:spPr>
          <a:xfrm>
            <a:off x="904875" y="2476500"/>
            <a:ext cx="2209800" cy="647700"/>
          </a:xfrm>
          <a:prstGeom prst="roundRect">
            <a:avLst>
              <a:gd fmla="val 11765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"/>
          <p:cNvSpPr/>
          <p:nvPr/>
        </p:nvSpPr>
        <p:spPr>
          <a:xfrm>
            <a:off x="1019175" y="2562225"/>
            <a:ext cx="1981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Estudante de Engenharia de Computação no 2º semestre. Participa de grupos de estudo.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"/>
          <p:cNvSpPr/>
          <p:nvPr/>
        </p:nvSpPr>
        <p:spPr>
          <a:xfrm>
            <a:off x="3810000" y="2238375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"/>
          <p:cNvSpPr/>
          <p:nvPr/>
        </p:nvSpPr>
        <p:spPr>
          <a:xfrm>
            <a:off x="3810000" y="2476500"/>
            <a:ext cx="2800350" cy="552450"/>
          </a:xfrm>
          <a:prstGeom prst="roundRect">
            <a:avLst>
              <a:gd fmla="val 13793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"/>
          <p:cNvSpPr/>
          <p:nvPr/>
        </p:nvSpPr>
        <p:spPr>
          <a:xfrm>
            <a:off x="3924300" y="2562225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Compartilhar explicações com colegas e manter soluções acessíveis ao grupo.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"/>
          <p:cNvSpPr/>
          <p:nvPr/>
        </p:nvSpPr>
        <p:spPr>
          <a:xfrm>
            <a:off x="5162550" y="304800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"/>
          <p:cNvSpPr/>
          <p:nvPr/>
        </p:nvSpPr>
        <p:spPr>
          <a:xfrm>
            <a:off x="5162550" y="3348038"/>
            <a:ext cx="1447800" cy="457200"/>
          </a:xfrm>
          <a:prstGeom prst="roundRect">
            <a:avLst>
              <a:gd fmla="val 16667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"/>
          <p:cNvSpPr/>
          <p:nvPr/>
        </p:nvSpPr>
        <p:spPr>
          <a:xfrm>
            <a:off x="5276850" y="3362313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Explicações e soluções dispersas em cadernos, arquivos e mensagens.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"/>
          <p:cNvSpPr/>
          <p:nvPr/>
        </p:nvSpPr>
        <p:spPr>
          <a:xfrm>
            <a:off x="5162550" y="3952875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"/>
          <p:cNvSpPr/>
          <p:nvPr/>
        </p:nvSpPr>
        <p:spPr>
          <a:xfrm>
            <a:off x="5143500" y="4262425"/>
            <a:ext cx="1447800" cy="457200"/>
          </a:xfrm>
          <a:prstGeom prst="roundRect">
            <a:avLst>
              <a:gd fmla="val 16667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"/>
          <p:cNvSpPr/>
          <p:nvPr/>
        </p:nvSpPr>
        <p:spPr>
          <a:xfrm>
            <a:off x="5276850" y="4276725"/>
            <a:ext cx="1447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A ausência de um registro central dificulta localizar explicações anteriores.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"/>
          <p:cNvSpPr/>
          <p:nvPr/>
        </p:nvSpPr>
        <p:spPr>
          <a:xfrm>
            <a:off x="3048000" y="5038725"/>
            <a:ext cx="21621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"/>
          <p:cNvSpPr/>
          <p:nvPr/>
        </p:nvSpPr>
        <p:spPr>
          <a:xfrm>
            <a:off x="3048000" y="5276850"/>
            <a:ext cx="2162175" cy="495300"/>
          </a:xfrm>
          <a:prstGeom prst="roundRect">
            <a:avLst>
              <a:gd fmla="val 15385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"/>
          <p:cNvSpPr/>
          <p:nvPr/>
        </p:nvSpPr>
        <p:spPr>
          <a:xfrm>
            <a:off x="3162325" y="5305775"/>
            <a:ext cx="1933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8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Participa de discussões, compartilha soluções e revisita dúvidas já resolvidas.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"/>
          <p:cNvSpPr/>
          <p:nvPr/>
        </p:nvSpPr>
        <p:spPr>
          <a:xfrm>
            <a:off x="885825" y="3686175"/>
            <a:ext cx="18002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"/>
          <p:cNvSpPr/>
          <p:nvPr/>
        </p:nvSpPr>
        <p:spPr>
          <a:xfrm>
            <a:off x="885825" y="3924300"/>
            <a:ext cx="1800225" cy="590550"/>
          </a:xfrm>
          <a:prstGeom prst="roundRect">
            <a:avLst>
              <a:gd fmla="val 12903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"/>
          <p:cNvSpPr/>
          <p:nvPr/>
        </p:nvSpPr>
        <p:spPr>
          <a:xfrm>
            <a:off x="1000125" y="4010025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Colegas repetem dúvidas e sugerem organizar melhor os materiais do grupo.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"/>
          <p:cNvSpPr/>
          <p:nvPr/>
        </p:nvSpPr>
        <p:spPr>
          <a:xfrm>
            <a:off x="3000375" y="3476625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"/>
          <p:cNvSpPr/>
          <p:nvPr/>
        </p:nvSpPr>
        <p:spPr>
          <a:xfrm>
            <a:off x="3000375" y="3714750"/>
            <a:ext cx="1714500" cy="647700"/>
          </a:xfrm>
          <a:prstGeom prst="roundRect">
            <a:avLst>
              <a:gd fmla="val 11765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"/>
          <p:cNvSpPr/>
          <p:nvPr/>
        </p:nvSpPr>
        <p:spPr>
          <a:xfrm>
            <a:off x="3114675" y="3800475"/>
            <a:ext cx="1485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Valorização da colaboração, acompanhada de frustração com informações dispersas.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"/>
          <p:cNvSpPr/>
          <p:nvPr/>
        </p:nvSpPr>
        <p:spPr>
          <a:xfrm>
            <a:off x="8001000" y="1619250"/>
            <a:ext cx="3505200" cy="2571750"/>
          </a:xfrm>
          <a:prstGeom prst="roundRect">
            <a:avLst>
              <a:gd fmla="val 4444" name="adj"/>
            </a:avLst>
          </a:prstGeom>
          <a:solidFill>
            <a:srgbClr val="FFF4DE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"/>
          <p:cNvSpPr/>
          <p:nvPr/>
        </p:nvSpPr>
        <p:spPr>
          <a:xfrm>
            <a:off x="8001000" y="1619250"/>
            <a:ext cx="66675" cy="2571750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"/>
          <p:cNvSpPr/>
          <p:nvPr/>
        </p:nvSpPr>
        <p:spPr>
          <a:xfrm>
            <a:off x="8267700" y="1828800"/>
            <a:ext cx="3009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pt-BR" sz="157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Identificação permitida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"/>
          <p:cNvSpPr/>
          <p:nvPr/>
        </p:nvSpPr>
        <p:spPr>
          <a:xfrm>
            <a:off x="8267700" y="2247900"/>
            <a:ext cx="30099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código da entrevista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perfil geral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situação relevante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data da entrevista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t/>
            </a:r>
            <a:endParaRPr b="0" i="0" sz="1275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registrem nome, contato, imagem, voz, local exato ou condição individual identificável.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"/>
          <p:cNvSpPr/>
          <p:nvPr/>
        </p:nvSpPr>
        <p:spPr>
          <a:xfrm>
            <a:off x="8001000" y="4533900"/>
            <a:ext cx="350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Insight principal desta entrevista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"/>
          <p:cNvSpPr/>
          <p:nvPr/>
        </p:nvSpPr>
        <p:spPr>
          <a:xfrm>
            <a:off x="8001000" y="4772025"/>
            <a:ext cx="3505200" cy="819150"/>
          </a:xfrm>
          <a:prstGeom prst="roundRect">
            <a:avLst>
              <a:gd fmla="val 9302" name="adj"/>
            </a:avLst>
          </a:prstGeom>
          <a:solidFill>
            <a:srgbClr val="F1F6FC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"/>
          <p:cNvSpPr/>
          <p:nvPr/>
        </p:nvSpPr>
        <p:spPr>
          <a:xfrm>
            <a:off x="8115300" y="4857750"/>
            <a:ext cx="32766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06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A falta de organização das explicações compartilhadas dificulta a reutilização do conhecimento coletivo e favorece a repetição de dúvidas já resolvidas.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"/>
          <p:cNvSpPr/>
          <p:nvPr/>
        </p:nvSpPr>
        <p:spPr>
          <a:xfrm>
            <a:off x="8096250" y="5972175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90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Campos: paráfrases. 'Precisa fazer' e insight: interpretações da equipe.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"/>
          <p:cNvSpPr/>
          <p:nvPr/>
        </p:nvSpPr>
        <p:spPr>
          <a:xfrm>
            <a:off x="6675120" y="1472184"/>
            <a:ext cx="50292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70" u="none" cap="none" strike="noStrike">
                <a:solidFill>
                  <a:srgbClr val="174A90"/>
                </a:solidFill>
                <a:latin typeface="Calibri"/>
                <a:ea typeface="Calibri"/>
                <a:cs typeface="Calibri"/>
                <a:sym typeface="Calibri"/>
              </a:rPr>
              <a:t>07/10/2026</a:t>
            </a:r>
            <a:endParaRPr/>
          </a:p>
        </p:txBody>
      </p:sp>
      <p:sp>
        <p:nvSpPr>
          <p:cNvPr id="374" name="Google Shape;374;p4"/>
          <p:cNvSpPr/>
          <p:nvPr/>
        </p:nvSpPr>
        <p:spPr>
          <a:xfrm>
            <a:off x="6574536" y="1632204"/>
            <a:ext cx="566928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60" u="none" cap="none" strike="noStrike">
                <a:solidFill>
                  <a:srgbClr val="174A90"/>
                </a:solidFill>
                <a:latin typeface="Calibri"/>
                <a:ea typeface="Calibri"/>
                <a:cs typeface="Calibri"/>
                <a:sym typeface="Calibri"/>
              </a:rPr>
              <a:t>Vitor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6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SÍNTESE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Comparem os mapas e sintetizem os achados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135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Um padrão exige recorrência entre relatos. Identifiquem as interpretações da equipe.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pt-BR" sz="825" u="none" cap="none" strike="noStrik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457200" y="1924050"/>
            <a:ext cx="1775178" cy="495300"/>
          </a:xfrm>
          <a:prstGeom prst="rect">
            <a:avLst/>
          </a:prstGeom>
          <a:solidFill>
            <a:srgbClr val="15365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552450" y="2000250"/>
            <a:ext cx="158467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2232378" y="1924050"/>
            <a:ext cx="2610556" cy="495300"/>
          </a:xfrm>
          <a:prstGeom prst="rect">
            <a:avLst/>
          </a:prstGeom>
          <a:solidFill>
            <a:srgbClr val="15365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2327628" y="2000250"/>
            <a:ext cx="242005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Padrões ou convergências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4842933" y="1924050"/>
            <a:ext cx="2401711" cy="495300"/>
          </a:xfrm>
          <a:prstGeom prst="rect">
            <a:avLst/>
          </a:prstGeom>
          <a:solidFill>
            <a:srgbClr val="15365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4938183" y="2000250"/>
            <a:ext cx="221121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Diferenças ou tensões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7244644" y="1924050"/>
            <a:ext cx="2088444" cy="495300"/>
          </a:xfrm>
          <a:prstGeom prst="rect">
            <a:avLst/>
          </a:prstGeom>
          <a:solidFill>
            <a:srgbClr val="15365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7339894" y="2000250"/>
            <a:ext cx="189794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Evidências anônimas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9333089" y="1924050"/>
            <a:ext cx="2401711" cy="495300"/>
          </a:xfrm>
          <a:prstGeom prst="rect">
            <a:avLst/>
          </a:prstGeom>
          <a:solidFill>
            <a:srgbClr val="15365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9428339" y="2000250"/>
            <a:ext cx="221121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Implicação para o 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457200" y="2419350"/>
            <a:ext cx="1775178" cy="70485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552450" y="2495550"/>
            <a:ext cx="158467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Necessidades e objetivos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2232378" y="2419350"/>
            <a:ext cx="2610556" cy="704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2327628" y="2495550"/>
            <a:ext cx="242005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 e E5 priorizam a recuperação de conhecimento produzido em grupo.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4842933" y="2419350"/>
            <a:ext cx="2401711" cy="704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4938183" y="249555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E2 prioriza a criação de materiais; E3 busca orientações; E4 precisa otimizar seu tempo.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7244644" y="2419350"/>
            <a:ext cx="2088444" cy="704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7339894" y="2495550"/>
            <a:ext cx="189794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E1: dicas de exercícios. E5: explicações coletivas. E2: resumos.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9333089" y="2419350"/>
            <a:ext cx="2401711" cy="704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9428339" y="249555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Investigar a recuperação de conhecimento como possível necessidade central da Collabora.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457200" y="3124200"/>
            <a:ext cx="1775178" cy="70485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552450" y="3200400"/>
            <a:ext cx="158467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Dificuldades e 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2232378" y="3124200"/>
            <a:ext cx="2610556" cy="704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2327628" y="3200400"/>
            <a:ext cx="242005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E1, E4 e E5 apresentam problemas associados à dispersão de informações.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4842933" y="3124200"/>
            <a:ext cx="2401711" cy="704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4938183" y="320040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E2 enfrenta esforço na produção de materiais; E3 carece de contexto sobre disciplinas.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7244644" y="3124200"/>
            <a:ext cx="2088444" cy="704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7339894" y="3200400"/>
            <a:ext cx="189794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E1: perda de dicas. E4: demora na busca. E5: registros dispersos.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9333089" y="3124200"/>
            <a:ext cx="2401711" cy="704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9428339" y="320040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Avaliar o impacto da desorganização e da dificuldade de recuperar informações.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457200" y="3829050"/>
            <a:ext cx="1775178" cy="70485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552450" y="3905250"/>
            <a:ext cx="158467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Comportamentos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2232378" y="3829050"/>
            <a:ext cx="2610556" cy="704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2327628" y="3905250"/>
            <a:ext cx="242005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E1, E2 e E5 registram ou compartilham conhecimentos com colegas.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4842933" y="3829050"/>
            <a:ext cx="2401711" cy="704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4938183" y="390525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E3 consulta veteranos; E4 estuda individualmente.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7244644" y="3829050"/>
            <a:ext cx="2088444" cy="704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7339894" y="3905250"/>
            <a:ext cx="189794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E1: listas em grupo. E2: resumos digitais. E5: soluções compartilhadas.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9333089" y="3829050"/>
            <a:ext cx="2401711" cy="704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9428339" y="390525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Considerar tanto a colaboração quanto a consulta individual no projeto.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457200" y="4533900"/>
            <a:ext cx="1775178" cy="70485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552450" y="4610100"/>
            <a:ext cx="158467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Alternativas atuais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2232378" y="4533900"/>
            <a:ext cx="2610556" cy="704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2327628" y="4610100"/>
            <a:ext cx="242005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Os perfis utilizam ferramentas e registros diferentes para organizar o estudo.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4842933" y="4533900"/>
            <a:ext cx="2401711" cy="704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4938183" y="461010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 usa papel; E2 usa Docs; E3 consulta veteranos; E4 e E5 utilizam arquivos e mensagens.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7244644" y="4533900"/>
            <a:ext cx="2088444" cy="704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7339894" y="4610100"/>
            <a:ext cx="189794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E1: folhas. E2: Docs. E3: conversas. E4: arquivos. E5: mensagens.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9333089" y="4533900"/>
            <a:ext cx="2401711" cy="704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9428339" y="461010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Investigar se organizar diferentes fontes em um só ambiente agregaria valor.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457200" y="5238750"/>
            <a:ext cx="1775178" cy="6858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552450" y="5314950"/>
            <a:ext cx="158467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Desejos e expectativas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2232378" y="5238750"/>
            <a:ext cx="2610556" cy="68580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2327628" y="5314950"/>
            <a:ext cx="242005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E1, E4 e E5 convergem na importância de recuperar informações com facilidade.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4842933" y="5238750"/>
            <a:ext cx="2401711" cy="68580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4938183" y="5314950"/>
            <a:ext cx="2211211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E2 valoriza a criação de explicações; E3 deseja compreender aplicações profissionais.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7244644" y="5238750"/>
            <a:ext cx="2088444" cy="68580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7339894" y="5314950"/>
            <a:ext cx="1897944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E1: recuperar dicas. E4: economizar tempo. E5: reutilizar soluções.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9333089" y="5238750"/>
            <a:ext cx="2401711" cy="68580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9428339" y="5314950"/>
            <a:ext cx="2211211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Priorizar testes sobre acesso e reutilização de conhecimento antes de definir funcionalidades.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685800" y="607695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lang="pt-BR" sz="1050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Padrões e implicações são interpretações da equipe apoiadas nos relatos E1–E5.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7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REVISÃO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Confiram a qualidade dos registros de empatia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7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135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A entrega deve permitir que outra pessoa reconheça de onde vieram os principais insights, sem identificar participantes.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7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7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pt-BR" sz="825" u="none" cap="none" strike="noStrik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685800" y="2019300"/>
            <a:ext cx="323850" cy="323850"/>
          </a:xfrm>
          <a:prstGeom prst="roundRect">
            <a:avLst>
              <a:gd fmla="val 20588" name="adj"/>
            </a:avLst>
          </a:prstGeom>
          <a:solidFill>
            <a:srgbClr val="F8FAFC"/>
          </a:solidFill>
          <a:ln cap="flat" cmpd="sng" w="9525">
            <a:solidFill>
              <a:srgbClr val="8BB7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7"/>
          <p:cNvSpPr/>
          <p:nvPr/>
        </p:nvSpPr>
        <p:spPr>
          <a:xfrm>
            <a:off x="752475" y="20574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pt-BR" sz="142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1162050" y="202882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Cada integrante realizou uma entrevista de empatia.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685800" y="2609850"/>
            <a:ext cx="323850" cy="323850"/>
          </a:xfrm>
          <a:prstGeom prst="roundRect">
            <a:avLst>
              <a:gd fmla="val 20588" name="adj"/>
            </a:avLst>
          </a:prstGeom>
          <a:solidFill>
            <a:srgbClr val="F8FAFC"/>
          </a:solidFill>
          <a:ln cap="flat" cmpd="sng" w="9525">
            <a:solidFill>
              <a:srgbClr val="8BB7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752475" y="264795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pt-BR" sz="142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1162050" y="261937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Há um mapa preenchido para cada entrevista, identificado apenas por código.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685800" y="3200400"/>
            <a:ext cx="323850" cy="323850"/>
          </a:xfrm>
          <a:prstGeom prst="roundRect">
            <a:avLst>
              <a:gd fmla="val 20588" name="adj"/>
            </a:avLst>
          </a:prstGeom>
          <a:solidFill>
            <a:srgbClr val="F8FAFC"/>
          </a:solidFill>
          <a:ln cap="flat" cmpd="sng" w="9525">
            <a:solidFill>
              <a:srgbClr val="8BB7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752475" y="32385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pt-BR" sz="142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1162050" y="320992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Os registros distinguem falas/experiências de interpretações da equipe.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685800" y="3790950"/>
            <a:ext cx="323850" cy="323850"/>
          </a:xfrm>
          <a:prstGeom prst="roundRect">
            <a:avLst>
              <a:gd fmla="val 20588" name="adj"/>
            </a:avLst>
          </a:prstGeom>
          <a:solidFill>
            <a:srgbClr val="F8FAFC"/>
          </a:solidFill>
          <a:ln cap="flat" cmpd="sng" w="9525">
            <a:solidFill>
              <a:srgbClr val="8BB7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752475" y="382905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pt-BR" sz="142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1162050" y="380047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Nenhuma informação pessoal identificável foi incluída.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7"/>
          <p:cNvSpPr/>
          <p:nvPr/>
        </p:nvSpPr>
        <p:spPr>
          <a:xfrm>
            <a:off x="685800" y="4381500"/>
            <a:ext cx="323850" cy="323850"/>
          </a:xfrm>
          <a:prstGeom prst="roundRect">
            <a:avLst>
              <a:gd fmla="val 20588" name="adj"/>
            </a:avLst>
          </a:prstGeom>
          <a:solidFill>
            <a:srgbClr val="F8FAFC"/>
          </a:solidFill>
          <a:ln cap="flat" cmpd="sng" w="9525">
            <a:solidFill>
              <a:srgbClr val="8BB7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752475" y="44196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pt-BR" sz="142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1162050" y="439102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síntese registra padrões, diferenças, evidências e implicações.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7429500" y="2095500"/>
            <a:ext cx="4076700" cy="2190750"/>
          </a:xfrm>
          <a:prstGeom prst="roundRect">
            <a:avLst>
              <a:gd fmla="val 5217" name="adj"/>
            </a:avLst>
          </a:prstGeom>
          <a:solidFill>
            <a:srgbClr val="E8F5F3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7429500" y="2095500"/>
            <a:ext cx="66675" cy="2190750"/>
          </a:xfrm>
          <a:prstGeom prst="roundRect">
            <a:avLst>
              <a:gd fmla="val 50000" name="adj"/>
            </a:avLst>
          </a:prstGeom>
          <a:solidFill>
            <a:srgbClr val="138A83"/>
          </a:solidFill>
          <a:ln cap="flat" cmpd="sng" w="9525">
            <a:solidFill>
              <a:srgbClr val="138A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7696200" y="2305050"/>
            <a:ext cx="3581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pt-BR" sz="157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Produto esperado no 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7696200" y="2724150"/>
            <a:ext cx="358140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plano/organização da escuta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mapas de empatia (um por entrevista)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síntese coletiva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slide de participação e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7429500" y="4667250"/>
            <a:ext cx="4076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Nome sugerido do arquivo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7"/>
          <p:cNvSpPr/>
          <p:nvPr/>
        </p:nvSpPr>
        <p:spPr>
          <a:xfrm>
            <a:off x="7429500" y="4905375"/>
            <a:ext cx="4076700" cy="609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1425">
            <a:solidFill>
              <a:srgbClr val="8BB7F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7543800" y="4991100"/>
            <a:ext cx="3848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Entrega_2_Collabora.AI.pdf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7"/>
          <p:cNvSpPr/>
          <p:nvPr/>
        </p:nvSpPr>
        <p:spPr>
          <a:xfrm>
            <a:off x="7524750" y="5867400"/>
            <a:ext cx="3886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Anexar um único PDF por equipe no e-Disciplinas.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8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REGISTRO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8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Participação da equipe e transparência sobre uso de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8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8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135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Incluam apenas os integrantes que efetivamente participaram desta entrega e descrevam a contribuição realizada.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8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8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pt-BR" sz="825" u="none" cap="none" strike="noStrik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8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8"/>
          <p:cNvSpPr/>
          <p:nvPr/>
        </p:nvSpPr>
        <p:spPr>
          <a:xfrm>
            <a:off x="685800" y="1809750"/>
            <a:ext cx="2975610" cy="361950"/>
          </a:xfrm>
          <a:prstGeom prst="rect">
            <a:avLst/>
          </a:prstGeom>
          <a:solidFill>
            <a:srgbClr val="15365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8"/>
          <p:cNvSpPr/>
          <p:nvPr/>
        </p:nvSpPr>
        <p:spPr>
          <a:xfrm>
            <a:off x="781050" y="1885950"/>
            <a:ext cx="27851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Nome do integrante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8"/>
          <p:cNvSpPr/>
          <p:nvPr/>
        </p:nvSpPr>
        <p:spPr>
          <a:xfrm>
            <a:off x="3661410" y="1809750"/>
            <a:ext cx="1487805" cy="361950"/>
          </a:xfrm>
          <a:prstGeom prst="rect">
            <a:avLst/>
          </a:prstGeom>
          <a:solidFill>
            <a:srgbClr val="15365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3756660" y="1885950"/>
            <a:ext cx="12973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8"/>
          <p:cNvSpPr/>
          <p:nvPr/>
        </p:nvSpPr>
        <p:spPr>
          <a:xfrm>
            <a:off x="5149215" y="1809750"/>
            <a:ext cx="6356985" cy="361950"/>
          </a:xfrm>
          <a:prstGeom prst="rect">
            <a:avLst/>
          </a:prstGeom>
          <a:solidFill>
            <a:srgbClr val="15365F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8"/>
          <p:cNvSpPr/>
          <p:nvPr/>
        </p:nvSpPr>
        <p:spPr>
          <a:xfrm>
            <a:off x="5244465" y="1885950"/>
            <a:ext cx="616648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 contribuiu para esta 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8"/>
          <p:cNvSpPr/>
          <p:nvPr/>
        </p:nvSpPr>
        <p:spPr>
          <a:xfrm>
            <a:off x="685800" y="2171700"/>
            <a:ext cx="2975610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781050" y="22479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3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Cauê Paiva Lira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3661410" y="2171700"/>
            <a:ext cx="1487805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8"/>
          <p:cNvSpPr/>
          <p:nvPr/>
        </p:nvSpPr>
        <p:spPr>
          <a:xfrm>
            <a:off x="3756660" y="22479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3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14675416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8"/>
          <p:cNvSpPr/>
          <p:nvPr/>
        </p:nvSpPr>
        <p:spPr>
          <a:xfrm>
            <a:off x="5149215" y="2171700"/>
            <a:ext cx="6356985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8"/>
          <p:cNvSpPr/>
          <p:nvPr/>
        </p:nvSpPr>
        <p:spPr>
          <a:xfrm>
            <a:off x="5244465" y="22479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3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Conduziu E1.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685800" y="2495550"/>
            <a:ext cx="2975610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781050" y="257175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3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Enzo Tonon Morente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8"/>
          <p:cNvSpPr/>
          <p:nvPr/>
        </p:nvSpPr>
        <p:spPr>
          <a:xfrm>
            <a:off x="3661410" y="2495550"/>
            <a:ext cx="1487805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8"/>
          <p:cNvSpPr/>
          <p:nvPr/>
        </p:nvSpPr>
        <p:spPr>
          <a:xfrm>
            <a:off x="3756660" y="257175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3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14568476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8"/>
          <p:cNvSpPr/>
          <p:nvPr/>
        </p:nvSpPr>
        <p:spPr>
          <a:xfrm>
            <a:off x="5149215" y="2495550"/>
            <a:ext cx="6356985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5244465" y="257175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3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Conduziu E2.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685800" y="2819400"/>
            <a:ext cx="2975610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8"/>
          <p:cNvSpPr/>
          <p:nvPr/>
        </p:nvSpPr>
        <p:spPr>
          <a:xfrm>
            <a:off x="781050" y="28956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3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Letícia Barbosa Neves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8"/>
          <p:cNvSpPr/>
          <p:nvPr/>
        </p:nvSpPr>
        <p:spPr>
          <a:xfrm>
            <a:off x="3661410" y="2819400"/>
            <a:ext cx="1487805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3756660" y="28956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3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14588659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5149215" y="2819400"/>
            <a:ext cx="6356985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5244465" y="28956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3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Conduziu E3.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8"/>
          <p:cNvSpPr/>
          <p:nvPr/>
        </p:nvSpPr>
        <p:spPr>
          <a:xfrm>
            <a:off x="685800" y="3143250"/>
            <a:ext cx="2975610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781050" y="321945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3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Lázaro Pereira Vinaud Neto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3661410" y="3143250"/>
            <a:ext cx="1487805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8"/>
          <p:cNvSpPr/>
          <p:nvPr/>
        </p:nvSpPr>
        <p:spPr>
          <a:xfrm>
            <a:off x="3756660" y="321945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3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14675396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5149215" y="3143250"/>
            <a:ext cx="6356985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8"/>
          <p:cNvSpPr/>
          <p:nvPr/>
        </p:nvSpPr>
        <p:spPr>
          <a:xfrm>
            <a:off x="5244465" y="321945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3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Conduziu E4.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685800" y="3467100"/>
            <a:ext cx="2975610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8"/>
          <p:cNvSpPr/>
          <p:nvPr/>
        </p:nvSpPr>
        <p:spPr>
          <a:xfrm>
            <a:off x="781050" y="35433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3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Vitor Thompson Borges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8"/>
          <p:cNvSpPr/>
          <p:nvPr/>
        </p:nvSpPr>
        <p:spPr>
          <a:xfrm>
            <a:off x="3661410" y="3467100"/>
            <a:ext cx="1487805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8"/>
          <p:cNvSpPr/>
          <p:nvPr/>
        </p:nvSpPr>
        <p:spPr>
          <a:xfrm>
            <a:off x="3756660" y="35433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3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13682941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8"/>
          <p:cNvSpPr/>
          <p:nvPr/>
        </p:nvSpPr>
        <p:spPr>
          <a:xfrm>
            <a:off x="5149215" y="3467100"/>
            <a:ext cx="6356985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5244465" y="35433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3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Conduziu E5.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8"/>
          <p:cNvSpPr/>
          <p:nvPr/>
        </p:nvSpPr>
        <p:spPr>
          <a:xfrm>
            <a:off x="685800" y="3790950"/>
            <a:ext cx="2975610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781050" y="386715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3661410" y="3790950"/>
            <a:ext cx="1487805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3756660" y="386715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8"/>
          <p:cNvSpPr/>
          <p:nvPr/>
        </p:nvSpPr>
        <p:spPr>
          <a:xfrm>
            <a:off x="5149215" y="3790950"/>
            <a:ext cx="6356985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8"/>
          <p:cNvSpPr/>
          <p:nvPr/>
        </p:nvSpPr>
        <p:spPr>
          <a:xfrm>
            <a:off x="5244465" y="386715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8"/>
          <p:cNvSpPr/>
          <p:nvPr/>
        </p:nvSpPr>
        <p:spPr>
          <a:xfrm>
            <a:off x="685800" y="4114800"/>
            <a:ext cx="2975610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8"/>
          <p:cNvSpPr/>
          <p:nvPr/>
        </p:nvSpPr>
        <p:spPr>
          <a:xfrm>
            <a:off x="781050" y="41910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8"/>
          <p:cNvSpPr/>
          <p:nvPr/>
        </p:nvSpPr>
        <p:spPr>
          <a:xfrm>
            <a:off x="3661410" y="4114800"/>
            <a:ext cx="1487805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8"/>
          <p:cNvSpPr/>
          <p:nvPr/>
        </p:nvSpPr>
        <p:spPr>
          <a:xfrm>
            <a:off x="3756660" y="41910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8"/>
          <p:cNvSpPr/>
          <p:nvPr/>
        </p:nvSpPr>
        <p:spPr>
          <a:xfrm>
            <a:off x="5149215" y="4114800"/>
            <a:ext cx="6356985" cy="323850"/>
          </a:xfrm>
          <a:prstGeom prst="rect">
            <a:avLst/>
          </a:prstGeom>
          <a:solidFill>
            <a:srgbClr val="F1F6FC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8"/>
          <p:cNvSpPr/>
          <p:nvPr/>
        </p:nvSpPr>
        <p:spPr>
          <a:xfrm>
            <a:off x="5244465" y="41910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8"/>
          <p:cNvSpPr/>
          <p:nvPr/>
        </p:nvSpPr>
        <p:spPr>
          <a:xfrm>
            <a:off x="685800" y="46101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pt-BR" sz="1125" u="none" cap="none" strike="noStrik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Marque apenas uma opção: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8"/>
          <p:cNvSpPr/>
          <p:nvPr/>
        </p:nvSpPr>
        <p:spPr>
          <a:xfrm>
            <a:off x="685800" y="4895850"/>
            <a:ext cx="5286375" cy="1352550"/>
          </a:xfrm>
          <a:prstGeom prst="roundRect">
            <a:avLst>
              <a:gd fmla="val 7042" name="adj"/>
            </a:avLst>
          </a:prstGeom>
          <a:solidFill>
            <a:srgbClr val="EAF2FD"/>
          </a:solidFill>
          <a:ln cap="flat" cmpd="sng" w="9525">
            <a:solidFill>
              <a:srgbClr val="8BB7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8"/>
          <p:cNvSpPr/>
          <p:nvPr/>
        </p:nvSpPr>
        <p:spPr>
          <a:xfrm>
            <a:off x="857250" y="505777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pt-BR" sz="1800" u="none" cap="none" strike="noStrik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8"/>
          <p:cNvSpPr/>
          <p:nvPr/>
        </p:nvSpPr>
        <p:spPr>
          <a:xfrm>
            <a:off x="1257300" y="5000625"/>
            <a:ext cx="4524375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pt-BR" sz="1070" u="none" cap="none" strike="noStrik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IA generativa auxiliou na organização dos relatos, na redação dos mapas e na síntese das entrevistas.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8"/>
          <p:cNvSpPr/>
          <p:nvPr/>
        </p:nvSpPr>
        <p:spPr>
          <a:xfrm>
            <a:off x="6219825" y="4895850"/>
            <a:ext cx="5286375" cy="1352550"/>
          </a:xfrm>
          <a:prstGeom prst="roundRect">
            <a:avLst>
              <a:gd fmla="val 7042" name="adj"/>
            </a:avLst>
          </a:prstGeom>
          <a:solidFill>
            <a:srgbClr val="E8F5F3"/>
          </a:solidFill>
          <a:ln cap="flat" cmpd="sng" w="9525">
            <a:solidFill>
              <a:srgbClr val="CB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8"/>
          <p:cNvSpPr/>
          <p:nvPr/>
        </p:nvSpPr>
        <p:spPr>
          <a:xfrm>
            <a:off x="6391275" y="505777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pt-BR" sz="1650" u="none" cap="none" strike="noStrik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8"/>
          <p:cNvSpPr/>
          <p:nvPr/>
        </p:nvSpPr>
        <p:spPr>
          <a:xfrm>
            <a:off x="6791325" y="5000625"/>
            <a:ext cx="4524375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pt-BR" sz="112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Declaro que este trabalho foi desenvolvido inteiramente sem o uso de ferramentas de IA generativa para redação, revisão ou qualquer outra etapa do processo.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PRG0005 Inovação Clássica">
      <a:dk1>
        <a:srgbClr val="000000"/>
      </a:dk1>
      <a:lt1>
        <a:srgbClr val="FFFFFF"/>
      </a:lt1>
      <a:dk2>
        <a:srgbClr val="0E2841"/>
      </a:dk2>
      <a:lt2>
        <a:srgbClr val="EEF2F7"/>
      </a:lt2>
      <a:accent1>
        <a:srgbClr val="2F80ED"/>
      </a:accent1>
      <a:accent2>
        <a:srgbClr val="138A83"/>
      </a:accent2>
      <a:accent3>
        <a:srgbClr val="D97706"/>
      </a:accent3>
      <a:accent4>
        <a:srgbClr val="6B5CC5"/>
      </a:accent4>
      <a:accent5>
        <a:srgbClr val="2696A6"/>
      </a:accent5>
      <a:accent6>
        <a:srgbClr val="4B7B53"/>
      </a:accent6>
      <a:hlink>
        <a:srgbClr val="2F80ED"/>
      </a:hlink>
      <a:folHlink>
        <a:srgbClr val="6B5CC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PRG0005 Inovação Clássica">
      <a:dk1>
        <a:srgbClr val="000000"/>
      </a:dk1>
      <a:lt1>
        <a:srgbClr val="FFFFFF"/>
      </a:lt1>
      <a:dk2>
        <a:srgbClr val="0E2841"/>
      </a:dk2>
      <a:lt2>
        <a:srgbClr val="EEF2F7"/>
      </a:lt2>
      <a:accent1>
        <a:srgbClr val="2F80ED"/>
      </a:accent1>
      <a:accent2>
        <a:srgbClr val="138A83"/>
      </a:accent2>
      <a:accent3>
        <a:srgbClr val="D97706"/>
      </a:accent3>
      <a:accent4>
        <a:srgbClr val="6B5CC5"/>
      </a:accent4>
      <a:accent5>
        <a:srgbClr val="2696A6"/>
      </a:accent5>
      <a:accent6>
        <a:srgbClr val="4B7B53"/>
      </a:accent6>
      <a:hlink>
        <a:srgbClr val="2F80ED"/>
      </a:hlink>
      <a:folHlink>
        <a:srgbClr val="6B5CC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2026-08-27T18:47:51Z</dcterms:created>
  <dc:creator>Walnut Exporter</dc:creator>
</cp:coreProperties>
</file>