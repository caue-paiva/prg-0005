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4" r:id="rId18"/>
    <p:sldId id="265" r:id="rId19"/>
    <p:sldId id="266" r:id="rId20"/>
    <p:sldId id="267" r:id="rId21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3X1f7ZfXL9dWkP/ZPvDrUeEqv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" name="Google Shape;3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285" y="0"/>
            <a:ext cx="35833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742950" y="571500"/>
            <a:ext cx="1238250" cy="30480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EAF2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838200" y="619125"/>
            <a:ext cx="1047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/>
          <p:nvPr/>
        </p:nvSpPr>
        <p:spPr>
          <a:xfrm>
            <a:off x="742950" y="10668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ENTREVISTAS E MAPA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742950" y="1504950"/>
            <a:ext cx="7143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Empatizar com o público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781050" y="3048000"/>
            <a:ext cx="65722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Cada integrante realizará uma entrevista de empatia e a equipe organizará os achados sem expor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781050" y="4333875"/>
            <a:ext cx="7334250" cy="1104900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1"/>
          <p:cNvSpPr/>
          <p:nvPr/>
        </p:nvSpPr>
        <p:spPr>
          <a:xfrm>
            <a:off x="1028700" y="45529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PRODUTO DESTA ENTREGA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/>
          <p:nvPr/>
        </p:nvSpPr>
        <p:spPr>
          <a:xfrm>
            <a:off x="1028700" y="4876800"/>
            <a:ext cx="67627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Plano de entrevistas + um mapa por entrevista + síntese coletiva de padrões, diferenças e implicações.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1"/>
          <p:cNvSpPr/>
          <p:nvPr/>
        </p:nvSpPr>
        <p:spPr>
          <a:xfrm>
            <a:off x="8572500" y="40957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Prazo no e-Disciplinas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8572500" y="4333875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8686800" y="4419600"/>
            <a:ext cx="2628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i="1" dirty="0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09/10/2026 até às 23:59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8572500" y="5191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Formato: um único arquivo PDF por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742950" y="6400800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1"/>
          <p:cNvSpPr/>
          <p:nvPr/>
        </p:nvSpPr>
        <p:spPr>
          <a:xfrm>
            <a:off x="11049000" y="6400800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8316" y="6143625"/>
            <a:ext cx="930567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1975" y="6200775"/>
            <a:ext cx="5588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PREPARAÇÃO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Planejem a escuta e protejam a privacidade dos participantes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2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entrevista de empatia busca compreender experiências, necessidades, comportamentos e emoções por meio de perguntas abertas.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2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2"/>
          <p:cNvSpPr/>
          <p:nvPr/>
        </p:nvSpPr>
        <p:spPr>
          <a:xfrm>
            <a:off x="685800" y="195262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Perfil geral dos participantes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2"/>
          <p:cNvSpPr/>
          <p:nvPr/>
        </p:nvSpPr>
        <p:spPr>
          <a:xfrm>
            <a:off x="685800" y="2190750"/>
            <a:ext cx="5143500" cy="685800"/>
          </a:xfrm>
          <a:prstGeom prst="roundRect">
            <a:avLst>
              <a:gd name="adj" fmla="val 1111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/>
          <p:nvPr/>
        </p:nvSpPr>
        <p:spPr>
          <a:xfrm>
            <a:off x="800100" y="2276475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9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estudam em grupo no 2º semestre. E3, também no 2º, alterna estudo individual e em grupo. E4 está no 4º e relata estudo individual no 1º e no 2º semestres.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2"/>
          <p:cNvSpPr/>
          <p:nvPr/>
        </p:nvSpPr>
        <p:spPr>
          <a:xfrm>
            <a:off x="685800" y="3143250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Diversidade de situações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685800" y="3381375"/>
            <a:ext cx="5143500" cy="685800"/>
          </a:xfrm>
          <a:prstGeom prst="roundRect">
            <a:avLst>
              <a:gd name="adj" fmla="val 1111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00100" y="34671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Listas em papel (E1), resumos digitais (E2), estudo individual e em grupo (E3), blocos curtos no 1º e no 2º semestres (E4) e grupos grandes (E5).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685800" y="4333875"/>
            <a:ext cx="5143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Organização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685800" y="4572000"/>
            <a:ext cx="5143500" cy="838200"/>
          </a:xfrm>
          <a:prstGeom prst="roundRect">
            <a:avLst>
              <a:gd name="adj" fmla="val 9091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800100" y="4657725"/>
            <a:ext cx="4914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Cauê fez E1, Enzo E2, Letícia E3, Lázaro E4 e Vitor E5. Os registros usam códigos. A equipe reuniu cinco mapas e uma síntese sem identificar entrevistados.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6362700" y="1981200"/>
            <a:ext cx="5143500" cy="2952750"/>
          </a:xfrm>
          <a:prstGeom prst="roundRect">
            <a:avLst>
              <a:gd name="adj" fmla="val 3871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6362700" y="1981200"/>
            <a:ext cx="66675" cy="2952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/>
          <p:nvPr/>
        </p:nvSpPr>
        <p:spPr>
          <a:xfrm>
            <a:off x="6629400" y="2190750"/>
            <a:ext cx="46482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Cuidados essenciais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/>
          <p:nvPr/>
        </p:nvSpPr>
        <p:spPr>
          <a:xfrm>
            <a:off x="6629400" y="2609850"/>
            <a:ext cx="4648200" cy="21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participação voluntária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explicar a finalidade acadêmica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registrar nome, contato, imagem, diagnóstico ou outra informação identificável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não gravar sem autorização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permitir que a pessoa não responda ou encerre a conversa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6362700" y="5219700"/>
            <a:ext cx="5143500" cy="666750"/>
          </a:xfrm>
          <a:prstGeom prst="roundRect">
            <a:avLst>
              <a:gd name="adj" fmla="val 14286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610350" y="5331619"/>
            <a:ext cx="4648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Cada integrante deverá realizar uma entrevista, conforme o material-base da atividade.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ROTEIRO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Conduzam uma conversa aberta sem induzir respostas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Usem as perguntas como guia. Façam perguntas de aprofundamento quando a pessoa trouxer exemplos relevantes.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685800" y="18669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771525" y="19431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1257300" y="19050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Conte-me sobre a última vez em que você vivenciou essa situação.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1257300" y="23145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685800" y="24098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71525" y="24860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1257300" y="24479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precisava fazer ou alcançar naquele momento?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1257300" y="28575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685800" y="29527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71525" y="30289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257300" y="29908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tornou a situação difícil?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257300" y="34004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" y="34956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35718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57300" y="353377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fez para lidar com a dificuldade?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257300" y="394335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85800" y="40386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71525" y="4114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1257300" y="407670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funcionou bem e o que não funcionou?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257300" y="448627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85800" y="45815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71525" y="46577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257300" y="4619625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que você pensou ou sentiu durante essa experiência?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257300" y="5029200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85800" y="51244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771525" y="52006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257300" y="5162550"/>
            <a:ext cx="976312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 algo pudesse melhorar nessa situação, qual resultado seria mais importante?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257300" y="5572125"/>
            <a:ext cx="9791700" cy="9525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685800" y="5753100"/>
            <a:ext cx="10820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Pergunta específica da equipe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685800" y="5991225"/>
            <a:ext cx="10820400" cy="428625"/>
          </a:xfrm>
          <a:prstGeom prst="roundRect">
            <a:avLst>
              <a:gd name="adj" fmla="val 17778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800100" y="6076950"/>
            <a:ext cx="105918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5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Conte sobre uma dúvida recente ao estudar com colegas: como tentaram resolvê-la e o que aconteceu depois?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ORIENTAÇÃO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Transformem a entrevista em um mapa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Registrem frases curtas, exemplos e comportamentos observáveis. Diferenciem o que foi dito do que a equipe interpretou.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685800" y="1924050"/>
            <a:ext cx="2674829" cy="3810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781050" y="2000250"/>
            <a:ext cx="2484329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do mapa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3360629" y="1924050"/>
            <a:ext cx="5135671" cy="3810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3455879" y="2000250"/>
            <a:ext cx="494517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de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685800" y="23050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81050" y="2381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1 · Com quem empatizamos?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3360629" y="23050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3455879" y="2381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Qual perfil geral e situação são relevantes?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685800" y="28384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81050" y="29146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2 · O que precisa fazer?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3360629" y="28384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455879" y="29146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tarefa, objetivo ou decisão precisa realizar?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685800" y="33718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81050" y="34480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3 · O que vê?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360629" y="33718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3455879" y="34480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pessoas, ambientes, informações ou alternativas influenciam?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85800" y="39052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81050" y="39814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4 · O que fala?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3360629" y="39052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3455879" y="39814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afirmações ou palavras recorrentes apareceram?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685800" y="44386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781050" y="45148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5 · O que faz?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3360629" y="44386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455879" y="45148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comportamentos e estratégias utiliza na prática?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685800" y="4972050"/>
            <a:ext cx="2674829" cy="5334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781050" y="5048250"/>
            <a:ext cx="248432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6 · O que escuta?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3360629" y="4972050"/>
            <a:ext cx="5135671" cy="5334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455879" y="5048250"/>
            <a:ext cx="494517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Que opiniões, orientações ou pressões recebe?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85800" y="5505450"/>
            <a:ext cx="2674829" cy="5143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781050" y="5581650"/>
            <a:ext cx="248432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7 · O que pensa e sente?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3360629" y="5505450"/>
            <a:ext cx="5135671" cy="5143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3455879" y="5581650"/>
            <a:ext cx="494517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Quais dores, desejos, receios e expectativas emergem?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858250" y="2076450"/>
            <a:ext cx="2647950" cy="3238500"/>
          </a:xfrm>
          <a:prstGeom prst="roundRect">
            <a:avLst>
              <a:gd name="adj" fmla="val 431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8858250" y="2076450"/>
            <a:ext cx="66675" cy="323850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9124950" y="2286000"/>
            <a:ext cx="2152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Como usar o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9124950" y="2705100"/>
            <a:ext cx="2152650" cy="245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Dupliquem o próximo slide uma vez por entrevista.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Identifiquem apenas a entrevista por código: E1, E2, E3...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Preencham os sete campos.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Retirem qualquer detalhe que possa identificar a pessoa.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Reúnam os mapas para a síntese coletiva.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858250" y="5429250"/>
            <a:ext cx="2647950" cy="685800"/>
          </a:xfrm>
          <a:prstGeom prst="roundRect">
            <a:avLst>
              <a:gd name="adj" fmla="val 11111"/>
            </a:avLst>
          </a:prstGeom>
          <a:solidFill>
            <a:srgbClr val="FFF4DE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9010650" y="5543550"/>
            <a:ext cx="23431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Não “corrija” a fala do participante para fazê-la caber na ideia da equipe.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Computação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Computação no 2º sem. Estuda com amigos.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Resolver listas e guardar dicas úteis para provas.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Listas de cálculo em folhas soltas.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Dicas surgem na prática e depois se perdem.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Resolve exercícios com amigos na biblioteca.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Opiniões ou orientações não relatadas.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Sente frustração: dicas perdidas poderiam ajudar nas provas.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Dicas criadas pelo grupo se perdem antes das provas.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0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Metadado do mapa 500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" rIns="18288" tIns="0" bIns="0" anchor="ctr"/>
          <a:lstStyle/>
          <a:p>
            <a:r>
              <a:rPr lang="pt-BR" sz="670">
                <a:solidFill>
                  <a:srgbClr val="174A90"/>
                </a:solidFill>
                <a:latin typeface="Calibri"/>
              </a:rPr>
              <a:t>06/10/2026</a:t>
            </a:r>
          </a:p>
        </p:txBody>
      </p:sp>
      <p:sp>
        <p:nvSpPr>
          <p:cNvPr id="501" name="Metadado do mapa 501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lIns="18288" rIns="18288" tIns="0" bIns="0" anchor="ctr"/>
          <a:lstStyle/>
          <a:p>
            <a:r>
              <a:rPr lang="pt-BR" sz="760">
                <a:solidFill>
                  <a:srgbClr val="174A90"/>
                </a:solidFill>
                <a:latin typeface="Calibri"/>
              </a:rPr>
              <a:t>Cauê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SÍNTESE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Comparem os mapas e sintetizem os achados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Um padrão exige recorrência entre relatos. Identifiquem as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457200" y="1924050"/>
            <a:ext cx="1775178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52450" y="2000250"/>
            <a:ext cx="158467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2232378" y="1924050"/>
            <a:ext cx="2610556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2327628" y="2000250"/>
            <a:ext cx="242005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Padrões ou convergências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4842933" y="1924050"/>
            <a:ext cx="2401711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938183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Diferenças ou tensões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7244644" y="1924050"/>
            <a:ext cx="2088444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7339894" y="2000250"/>
            <a:ext cx="189794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Evidências anônimas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9333089" y="1924050"/>
            <a:ext cx="2401711" cy="49530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9428339" y="2000250"/>
            <a:ext cx="221121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Implicação para o projeto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457200" y="241935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552450" y="24955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Necessidades e objetivos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2232378" y="241935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2327628" y="24955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buscam materiais úteis ao estudo em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4842933" y="24193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938183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E3 busca a utilidade das matérias. E4 precisa retomar o estudo em tempo curto.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7244644" y="241935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7339894" y="24955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Grupo: E1/E2/E5. Matérias: E3. Tempo: E4.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9333089" y="24193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9428339" y="24955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Investigar quais objetivos se repetem entre os estudantes.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457200" y="312420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552450" y="32004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Dificuldades e dores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2232378" y="312420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2327628" y="32004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 e E5 relatam problemas com materiais.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4842933" y="31242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938183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perde dicas. E2 limitações do Docs. E5 registros dispersos. E3/E4 trazem outras dores.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244644" y="312420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7339894" y="32004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Materiais: E1/E2/E5. Outras: E3/E4.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9333089" y="31242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9428339" y="32004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Investigar como registrar e recuperar explicações.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457200" y="382905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552450" y="390525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Comportamentos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2232378" y="382905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2327628" y="390525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E2, E3 e E5 estudam com colegas.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842933" y="38290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4938183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E3 alterna com estudo individual. E4 estudava sozinho em blocos curtos.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7244644" y="382905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7339894" y="390525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Grupo: E1/E2/E3/E5. Individual: E3/E4.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9333089" y="382905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9428339" y="390525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Não generalizar os modos de estudar.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457200" y="4533900"/>
            <a:ext cx="1775178" cy="70485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552450" y="4610100"/>
            <a:ext cx="158467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Alternativas atuais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2232378" y="4533900"/>
            <a:ext cx="2610556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2327628" y="4610100"/>
            <a:ext cx="2420056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e E2 usam registros próprios durante o estudo.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842933" y="45339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938183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usa papel. E2 usa Docs. E3 consulta veteranos. E5 relata materiais dispersos.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244644" y="4533900"/>
            <a:ext cx="2088444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7339894" y="4610100"/>
            <a:ext cx="1897944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E2, E3, 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9333089" y="4533900"/>
            <a:ext cx="2401711" cy="704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9428339" y="4610100"/>
            <a:ext cx="221121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Entender práticas atuais antes de definir ferramenta.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57200" y="5238750"/>
            <a:ext cx="1775178" cy="6858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552450" y="5314950"/>
            <a:ext cx="158467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Desejos e expectativas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232378" y="5238750"/>
            <a:ext cx="2610556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2327628" y="5314950"/>
            <a:ext cx="2420056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Não surgiu um desejo recorrente entre os relatos.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4842933" y="5238750"/>
            <a:ext cx="2401711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4938183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 quer guardar dicas para provas. E3 busca a utilidade profissional das matérias.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7244644" y="5238750"/>
            <a:ext cx="2088444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7339894" y="5314950"/>
            <a:ext cx="1897944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E1, 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9333089" y="5238750"/>
            <a:ext cx="2401711" cy="68580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9428339" y="5314950"/>
            <a:ext cx="2211211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Verificar se esses resultados importam a outros estudantes.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85800" y="6076950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05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Síntese qualitativa de E1–E5. As implicações são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REVISÃO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Confiram a qualidade dos registros de empatia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A entrega deve permitir que outra pessoa reconheça de onde vieram os principais insights, sem identificar participantes.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685800" y="20193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752475" y="20574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162050" y="20288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Cada integrante realizou uma entrevista de empatia.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85800" y="26098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752475" y="26479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1162050" y="26193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Há um mapa preenchido para cada entrevista, identificado apenas por código.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85800" y="32004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752475" y="32385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1162050" y="32099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Os registros distinguem falas/experiências de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685800" y="379095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752475" y="382905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1162050" y="380047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Nenhuma informação pessoal identificável foi incluída.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685800" y="4381500"/>
            <a:ext cx="323850" cy="323850"/>
          </a:xfrm>
          <a:prstGeom prst="roundRect">
            <a:avLst>
              <a:gd name="adj" fmla="val 20588"/>
            </a:avLst>
          </a:prstGeom>
          <a:solidFill>
            <a:srgbClr val="F8FAFC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752475" y="4419600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lang="pt-BR" sz="14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162050" y="4391025"/>
            <a:ext cx="5715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síntese registra padrões, diferenças, evidências e implicações.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7429500" y="2095500"/>
            <a:ext cx="4076700" cy="2190750"/>
          </a:xfrm>
          <a:prstGeom prst="roundRect">
            <a:avLst>
              <a:gd name="adj" fmla="val 5217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7429500" y="2095500"/>
            <a:ext cx="66675" cy="2190750"/>
          </a:xfrm>
          <a:prstGeom prst="roundRect">
            <a:avLst>
              <a:gd name="adj" fmla="val 50000"/>
            </a:avLst>
          </a:prstGeom>
          <a:solidFill>
            <a:srgbClr val="138A83"/>
          </a:solidFill>
          <a:ln w="9525" cap="flat" cmpd="sng">
            <a:solidFill>
              <a:srgbClr val="138A8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7696200" y="2305050"/>
            <a:ext cx="3581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Produto esperado no 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7696200" y="2724150"/>
            <a:ext cx="3581400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plano/organização da escuta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mapas de empatia (um por entrevista)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síntese coletiva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slide de participação 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7429500" y="4667250"/>
            <a:ext cx="40767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Nome sugerido do arquivo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7429500" y="4905375"/>
            <a:ext cx="40767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7543800" y="4991100"/>
            <a:ext cx="3848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Entrega_2_Collabora.AI.pdf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7524750" y="5867400"/>
            <a:ext cx="3886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Anexar um único PDF por equipe no e-Disciplinas.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REGISTRO 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Participação da equipe e transparência sobre uso de 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85800" y="13525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pt-BR" sz="135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Incluam apenas os integrantes que efetivamente participaram desta entrega e descrevam a contribuição realizada.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685800" y="1809750"/>
            <a:ext cx="2975610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781050" y="1885950"/>
            <a:ext cx="27851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Nome do integrante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3661410" y="1809750"/>
            <a:ext cx="148780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3756660" y="1885950"/>
            <a:ext cx="12973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5149215" y="1809750"/>
            <a:ext cx="6356985" cy="361950"/>
          </a:xfrm>
          <a:prstGeom prst="rect">
            <a:avLst/>
          </a:prstGeom>
          <a:solidFill>
            <a:srgbClr val="15365F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5244465" y="1885950"/>
            <a:ext cx="616648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contribuiu para esta atividade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85800" y="21717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781050" y="22479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Cauê Paiva Lira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3661410" y="21717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3756660" y="22479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14675416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5149215" y="21717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5244465" y="22479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E1.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685800" y="24955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781050" y="25717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Enzo Tonon Morente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3661410" y="24955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3756660" y="25717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14568476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149215" y="24955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5244465" y="25717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E2.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85800" y="28194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781050" y="28956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Letícia Barbosa Neves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3661410" y="28194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3756660" y="28956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14588659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149215" y="28194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244465" y="28956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E3.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85800" y="31432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781050" y="32194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Lázaro Pereira Vinaud Neto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3661410" y="31432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3756660" y="32194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14675396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5149215" y="31432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5244465" y="32194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E4.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685800" y="34671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781050" y="35433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Vitor Thompson Borges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661410" y="34671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3756660" y="35433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13682941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5149215" y="34671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244465" y="35433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Conduziu E5.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685800" y="379095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781050" y="386715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661410" y="379095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3756660" y="386715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5149215" y="379095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5244465" y="386715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685800" y="4114800"/>
            <a:ext cx="2975610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781050" y="4191000"/>
            <a:ext cx="278511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3661410" y="4114800"/>
            <a:ext cx="148780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3756660" y="4191000"/>
            <a:ext cx="129730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5149215" y="4114800"/>
            <a:ext cx="6356985" cy="323850"/>
          </a:xfrm>
          <a:prstGeom prst="rect">
            <a:avLst/>
          </a:prstGeom>
          <a:solidFill>
            <a:srgbClr val="F1F6FC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5244465" y="4191000"/>
            <a:ext cx="616648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103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685800" y="46101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Marque apenas uma opção: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685800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AF2FD"/>
          </a:solidFill>
          <a:ln w="9525" cap="flat" cmpd="sng">
            <a:solidFill>
              <a:srgbClr val="8BB7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857250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800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☒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1257300" y="5000625"/>
            <a:ext cx="4524375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07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IA generativa auxiliou na organização dos relatos, na redação dos mapas e na síntese das entrevistas.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6219825" y="4895850"/>
            <a:ext cx="5286375" cy="1352550"/>
          </a:xfrm>
          <a:prstGeom prst="roundRect">
            <a:avLst>
              <a:gd name="adj" fmla="val 7042"/>
            </a:avLst>
          </a:prstGeom>
          <a:solidFill>
            <a:srgbClr val="E8F5F3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6391275" y="5057775"/>
            <a:ext cx="285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pt-BR" sz="1650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6791325" y="5000625"/>
            <a:ext cx="4524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Declaro que este trabalho foi desenvolvido inteiramente sem o uso de ferramentas de IA generativa para redação, revisão ou qualquer outra etapa do processo.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Computação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Computação no 2º sem. Faz resumos para o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Explicar conteúdos com imagens, vídeos e contas.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Usa Google Docs.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 Docs limita vídeos, imagens e resoluções.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Produz resumos para explicar aos colegas.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os resumos são bons, mas às vezes maçantes.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Acha o Docs limitado. Emoção não relatada.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 Docs dificulta registrar explicações com mídia e contas.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0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Metadado do mapa 500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" rIns="18288" tIns="0" bIns="0" anchor="ctr"/>
          <a:lstStyle/>
          <a:p>
            <a:r>
              <a:rPr lang="pt-BR" sz="670">
                <a:solidFill>
                  <a:srgbClr val="174A90"/>
                </a:solidFill>
                <a:latin typeface="Calibri"/>
              </a:rPr>
              <a:t>06/10/2026</a:t>
            </a:r>
          </a:p>
        </p:txBody>
      </p:sp>
      <p:sp>
        <p:nvSpPr>
          <p:cNvPr id="501" name="Metadado do mapa 501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lIns="18288" rIns="18288" tIns="0" bIns="0" anchor="ctr"/>
          <a:lstStyle/>
          <a:p>
            <a:r>
              <a:rPr lang="pt-BR" sz="760">
                <a:solidFill>
                  <a:srgbClr val="174A90"/>
                </a:solidFill>
                <a:latin typeface="Calibri"/>
              </a:rPr>
              <a:t>Enzo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Estatística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Estatística no 2º sem. Alterna estudo individual e em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Entender a importância das matérias e seu uso profissional.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Matérias parecem desconexas no início.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Falta visão geral do semestre e da utilidade.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Consulta veteranos sobre as matérias.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Ouve que a carga inicial de disciplinas é pesada.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Quer saber como o semestre a prepara para desafios.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94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Sem uma visão geral da importância das matérias, pergunta a veteranos para que servem as matérias no contexto profissional.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0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Metadado do mapa 500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" rIns="18288" tIns="0" bIns="0" anchor="ctr"/>
          <a:lstStyle/>
          <a:p>
            <a:r>
              <a:rPr lang="pt-BR" sz="670">
                <a:solidFill>
                  <a:srgbClr val="174A90"/>
                </a:solidFill>
                <a:latin typeface="Calibri"/>
              </a:rPr>
              <a:t>06/10/2026</a:t>
            </a:r>
          </a:p>
        </p:txBody>
      </p:sp>
      <p:sp>
        <p:nvSpPr>
          <p:cNvPr id="501" name="Metadado do mapa 501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lIns="18288" rIns="18288" tIns="0" bIns="0" anchor="ctr"/>
          <a:lstStyle/>
          <a:p>
            <a:r>
              <a:rPr lang="pt-BR" sz="760">
                <a:solidFill>
                  <a:srgbClr val="174A90"/>
                </a:solidFill>
                <a:latin typeface="Calibri"/>
              </a:rPr>
              <a:t>Letícia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SI noturno · 4º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Trabalha e cursa SI à noite. Relata o 1º e o 2º semestres.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Retomar matérias em intervalos de 30 a 60 min.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Anotações e exercícios de várias matérias.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Buscar materiais reduzia a produtividade.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Estudava sozinho entre trabalho e aulas.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Colegas: aprenderá mais no mercado que na faculdade.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Acha que alternar contexto atrapalha o estudo.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Localizar materiais consome parte do pouco tempo de estudo.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0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Metadado do mapa 500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" rIns="18288" tIns="0" bIns="0" anchor="ctr"/>
          <a:lstStyle/>
          <a:p>
            <a:r>
              <a:rPr lang="pt-BR" sz="670">
                <a:solidFill>
                  <a:srgbClr val="174A90"/>
                </a:solidFill>
                <a:latin typeface="Calibri"/>
              </a:rPr>
              <a:t>07/10/2026</a:t>
            </a:r>
          </a:p>
        </p:txBody>
      </p:sp>
      <p:sp>
        <p:nvSpPr>
          <p:cNvPr id="501" name="Metadado do mapa 501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lIns="18288" rIns="18288" tIns="0" bIns="0" anchor="ctr"/>
          <a:lstStyle/>
          <a:p>
            <a:r>
              <a:rPr lang="pt-BR" sz="760">
                <a:solidFill>
                  <a:srgbClr val="174A90"/>
                </a:solidFill>
                <a:latin typeface="Calibri"/>
              </a:rPr>
              <a:t>Lázaro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/>
          <p:nvPr/>
        </p:nvSpPr>
        <p:spPr>
          <a:xfrm>
            <a:off x="685800" y="2667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ENTREGA 2 · MAPA DE EMPATIA · 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85800" y="552450"/>
            <a:ext cx="10668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Mapa de empatia — 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CBD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628650" y="653415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PRG0005 · Fundamentos em Empreendedorismo ·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905500" y="6534150"/>
            <a:ext cx="42862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5" b="1" i="0" u="none" strike="noStrike" cap="none">
                <a:solidFill>
                  <a:srgbClr val="138A83"/>
                </a:solidFill>
                <a:latin typeface="Calibri"/>
                <a:ea typeface="Calibri"/>
                <a:cs typeface="Calibri"/>
                <a:sym typeface="Calibri"/>
              </a:rPr>
              <a:t>ENTREGA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1049000" y="6515100"/>
            <a:ext cx="5238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F6B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81125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2952750" y="152400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975" b="1" i="0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981575" y="1524000"/>
            <a:ext cx="1200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10" b="0" i="1" u="none" strike="noStrike" cap="none">
                <a:solidFill>
                  <a:srgbClr val="2F80ED"/>
                </a:solidFill>
                <a:latin typeface="Calibri"/>
                <a:ea typeface="Calibri"/>
                <a:cs typeface="Calibri"/>
                <a:sym typeface="Calibri"/>
              </a:rPr>
              <a:t>Eng. Comp. · 2º sem.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04875" y="2238375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04875" y="2476500"/>
            <a:ext cx="22098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019175" y="2562225"/>
            <a:ext cx="198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Estudante de Engenharia no 2º sem. Estuda em grupo.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810000" y="2238375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810000" y="2476500"/>
            <a:ext cx="2800350" cy="552450"/>
          </a:xfrm>
          <a:prstGeom prst="roundRect">
            <a:avLst>
              <a:gd name="adj" fmla="val 1379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3924300" y="2562225"/>
            <a:ext cx="2571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Aprender com colegas e manter um registro comum.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162550" y="3048000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5162550" y="3286125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5276850" y="337185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Soluções em cadernos, arquivos e mensagens.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5162550" y="3952875"/>
            <a:ext cx="1447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1910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276850" y="4276725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Grupo grande sem material central.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48000" y="5038725"/>
            <a:ext cx="2162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3048000" y="5276850"/>
            <a:ext cx="2162175" cy="495300"/>
          </a:xfrm>
          <a:prstGeom prst="roundRect">
            <a:avLst>
              <a:gd name="adj" fmla="val 1538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3162300" y="5362575"/>
            <a:ext cx="19335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8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Estuda em grupo. Refaz soluções e repete dúvidas.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/>
          <p:nvPr/>
        </p:nvSpPr>
        <p:spPr>
          <a:xfrm>
            <a:off x="885825" y="3686175"/>
            <a:ext cx="18002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885825" y="3924300"/>
            <a:ext cx="1800225" cy="590550"/>
          </a:xfrm>
          <a:prstGeom prst="roundRect">
            <a:avLst>
              <a:gd name="adj" fmla="val 12903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00125" y="4010025"/>
            <a:ext cx="1571625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Não relatou comentários ou orientações recebidos.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3000375" y="3476625"/>
            <a:ext cx="1714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3000375" y="3714750"/>
            <a:ext cx="1714500" cy="647700"/>
          </a:xfrm>
          <a:prstGeom prst="roundRect">
            <a:avLst>
              <a:gd name="adj" fmla="val 11765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14675" y="3800475"/>
            <a:ext cx="1485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pt-BR" sz="82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Grupo ajuda, mas conversas paralelas e desorganização atrapalham.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8001000" y="1619250"/>
            <a:ext cx="3505200" cy="2571750"/>
          </a:xfrm>
          <a:prstGeom prst="roundRect">
            <a:avLst>
              <a:gd name="adj" fmla="val 4444"/>
            </a:avLst>
          </a:prstGeom>
          <a:solidFill>
            <a:srgbClr val="FFF4DE"/>
          </a:solidFill>
          <a:ln w="9525" cap="flat" cmpd="sng">
            <a:solidFill>
              <a:srgbClr val="CBD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001000" y="1619250"/>
            <a:ext cx="66675" cy="2571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8267700" y="1828800"/>
            <a:ext cx="30099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</a:pPr>
            <a:r>
              <a:rPr lang="pt-BR" sz="157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Identificação permitida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8267700" y="2247900"/>
            <a:ext cx="30099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código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perfil geral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situação relevante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data da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endParaRPr sz="1275" b="0" i="0" u="none" strike="noStrike" cap="non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pt-BR" sz="1275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Não registrem nome, contato, imagem, voz, local exato ou condição individual identificável.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8001000" y="4533900"/>
            <a:ext cx="3505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lang="pt-BR" sz="1125" b="1" i="0" u="none" strike="noStrike" cap="none">
                <a:solidFill>
                  <a:srgbClr val="15365F"/>
                </a:solidFill>
                <a:latin typeface="Calibri"/>
                <a:ea typeface="Calibri"/>
                <a:cs typeface="Calibri"/>
                <a:sym typeface="Calibri"/>
              </a:rPr>
              <a:t>Insight principal desta entrevista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8001000" y="4772025"/>
            <a:ext cx="3505200" cy="819150"/>
          </a:xfrm>
          <a:prstGeom prst="roundRect">
            <a:avLst>
              <a:gd name="adj" fmla="val 9302"/>
            </a:avLst>
          </a:prstGeom>
          <a:solidFill>
            <a:srgbClr val="F1F6FC"/>
          </a:solidFill>
          <a:ln w="11425" cap="flat" cmpd="sng">
            <a:solidFill>
              <a:srgbClr val="8BB7F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8115300" y="4857750"/>
            <a:ext cx="32766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060" b="0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Sem registro comum, o grupo perde conclusões e repete dúvidas.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8096250" y="5972175"/>
            <a:ext cx="3314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pt-BR" sz="900" b="1" i="0" u="none" strike="noStrike" cap="none">
                <a:solidFill>
                  <a:srgbClr val="23334C"/>
                </a:solidFill>
                <a:latin typeface="Calibri"/>
                <a:ea typeface="Calibri"/>
                <a:cs typeface="Calibri"/>
                <a:sym typeface="Calibri"/>
              </a:rPr>
              <a:t>Campos: paráfrases. 'Precisa fazer' e insight: interpretações da equipe.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Metadado do mapa 500"/>
          <p:cNvSpPr/>
          <p:nvPr/>
        </p:nvSpPr>
        <p:spPr>
          <a:xfrm>
            <a:off x="6675120" y="1472184"/>
            <a:ext cx="502920" cy="118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" rIns="18288" tIns="0" bIns="0" anchor="ctr"/>
          <a:lstStyle/>
          <a:p>
            <a:r>
              <a:rPr lang="pt-BR" sz="670">
                <a:solidFill>
                  <a:srgbClr val="174A90"/>
                </a:solidFill>
                <a:latin typeface="Calibri"/>
              </a:rPr>
              <a:t>07/10/2026</a:t>
            </a:r>
          </a:p>
        </p:txBody>
      </p:sp>
      <p:sp>
        <p:nvSpPr>
          <p:cNvPr id="501" name="Metadado do mapa 501"/>
          <p:cNvSpPr/>
          <p:nvPr/>
        </p:nvSpPr>
        <p:spPr>
          <a:xfrm>
            <a:off x="6574536" y="1632204"/>
            <a:ext cx="566928" cy="173736"/>
          </a:xfrm>
          <a:prstGeom prst="rect">
            <a:avLst/>
          </a:prstGeom>
          <a:noFill/>
          <a:ln>
            <a:noFill/>
          </a:ln>
        </p:spPr>
        <p:txBody>
          <a:bodyPr lIns="18288" rIns="18288" tIns="0" bIns="0" anchor="ctr"/>
          <a:lstStyle/>
          <a:p>
            <a:r>
              <a:rPr lang="pt-BR" sz="760">
                <a:solidFill>
                  <a:srgbClr val="174A90"/>
                </a:solidFill>
                <a:latin typeface="Calibri"/>
              </a:rPr>
              <a:t>Vitor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PRG0005 Inovação Clássica">
      <a:dk1>
        <a:srgbClr val="000000"/>
      </a:dk1>
      <a:lt1>
        <a:srgbClr val="FFFFFF"/>
      </a:lt1>
      <a:dk2>
        <a:srgbClr val="0E2841"/>
      </a:dk2>
      <a:lt2>
        <a:srgbClr val="EEF2F7"/>
      </a:lt2>
      <a:accent1>
        <a:srgbClr val="2F80ED"/>
      </a:accent1>
      <a:accent2>
        <a:srgbClr val="138A83"/>
      </a:accent2>
      <a:accent3>
        <a:srgbClr val="D97706"/>
      </a:accent3>
      <a:accent4>
        <a:srgbClr val="6B5CC5"/>
      </a:accent4>
      <a:accent5>
        <a:srgbClr val="2696A6"/>
      </a:accent5>
      <a:accent6>
        <a:srgbClr val="4B7B53"/>
      </a:accent6>
      <a:hlink>
        <a:srgbClr val="2F80ED"/>
      </a:hlink>
      <a:folHlink>
        <a:srgbClr val="6B5CC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Macintosh PowerPoint</Application>
  <PresentationFormat>Widescreen</PresentationFormat>
  <Paragraphs>201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cp:lastModifiedBy>Marcelo Vieira</cp:lastModifiedBy>
  <cp:revision>1</cp:revision>
  <dcterms:created xsi:type="dcterms:W3CDTF">2026-08-27T18:47:51Z</dcterms:created>
  <dcterms:modified xsi:type="dcterms:W3CDTF">2026-10-02T11:41:59Z</dcterms:modified>
</cp:coreProperties>
</file>